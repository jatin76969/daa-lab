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dcbdfbe-caf3-ed14-92c4-c317ab923de4}">
          <p14:sldIdLst>
            <p14:sldId id="256"/>
            <p14:sldId id="257"/>
            <p14:sldId id="258"/>
          </p14:sldIdLst>
        </p14:section>
        <p14:section name="Algorithm" id="{a369aa0d-e93a-e150-c493-0ed168ddc643}">
          <p14:sldIdLst>
            <p14:sldId id="259"/>
            <p14:sldId id="260"/>
            <p14:sldId id="261"/>
          </p14:sldIdLst>
        </p14:section>
        <p14:section name="Analysis" id="{9ddd6aac-4bd2-3a23-fee6-fa45c38affd7}">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Jatin Kotha and today's topic for Design and Analysis of Algorithms is Dijkstra's Shortest Path Algorithm.
The picture on the right is the exact graph we will use later in the example. The orange line is the shortest path from A to E, with total cost 10. By the end of this talk you will understand how the algorithm finds that path, why it works, and how fast it is.
(This presentation was generated using Claude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Dijkstra's algorithm solves the single-source shortest path problem. We are given a weighted graph and one starting vertex called the source, and we want the minimum total weight needed to reach every other vertex.
Three keywords to remember: it is GREEDY (it always picks the closest vertex not yet finalised), it is SINGLE-SOURCE (one start, all destinations), and it needs NON-NEGATIVE weights.
It was designed by Edsger W. Dijkstra, a Dutch computer scientist, in 1956 and published in 1959.
The strip at the bottom is the whole idea in one line: we feed in a weighted graph and a source, and we get back the shortest distance and the actual path to every vertex.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Dijkstra's algorithm appears wherever we have a network with costs on the connections.
1. GPS navigation: map apps treat intersections as vertices and road segments as edges, with distance or travel time as the weight. Finding the fastest route is a shortest path problem. Production systems use optimised variants, but the core idea comes from Dijkstra.
2. Road networks: the same model is used for logistics, delivery planning and city planning. Traffic or tolls simply change the edge weights.
3. Computer networks: link-state routing protocols such as OSPF and IS-IS run Dijkstra on the network map so every router can pick the lowest-cost path to each destination.
The bottom band shows the general mapping: vertex = place or router, edge = road or link, weight = distance, time or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principle on a simple weighted graph with 5 vertices A to E. A is our source.
Step 1, initialise: the distance to the source is 0 and every other vertex starts at infinity because we have not found any path yet. You can see these starting values in the small badges above each node.
Step 2: among the vertices we have not finalised, pick the one with the smallest current distance.
Step 3, relaxation: look at each neighbour v of that vertex u. If going through u gives a shorter route, that is d[u] + w(u,v) &lt; d[v], we update d[v]. The small diagram on the right shows it: u has distance 2, the edge to v has weight 1, and v currently has 4. Since 2 + 1 = 3 is less than 4, v improves to 3.
Step 4: mark the chosen vertex as visited (its distance is now final) and repeat until all vertices are visited.
The greedy choice is safe because all weights are non-negative, so a longer path can never become shorter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the algorithm on the graph with source A. The table shows the distance estimates after each iteration. Orange cells were just updated, a teal cell is the vertex picked in that step (its distance is now final), and light teal cells are already settled.
Initial: A = 0, all others infinity.
Iteration 1, pick A (0): relax A-B gives 0 + 4 = 4, so B = 4. Relax A-C gives 0 + 2 = 2, so C = 2.
Iteration 2, pick C (2, the smallest unvisited): C-B gives 2 + 1 = 3, which is less than 4, so B improves to 3. C-D gives 2 + 8 = 10, so D = 10. C-E gives 2 + 10 = 12, so E = 12.
Iteration 3, pick B (3): B-D gives 3 + 5 = 8, which is less than 10, so D improves to 8.
Iteration 4, pick D (8): D-E gives 8 + 2 = 10, which is less than 12, so E improves to 10.
Iteration 5, pick E (10): no more improvements. Done.
Final distances from A: A = 0, B = 3, C = 2, D = 8, E = 10. Following the parent of each vertex backwards, the shortest path to E is A -&gt; C -&gt; B -&gt; D -&gt; E with cost 2 + 1 + 5 + 2 = 10. Notice the direct-looking edge A-B (weight 4) is NOT part of the best route; going through C is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pseudocode on the left is the whole algorithm.
Lines 2-3: for every vertex set dist to infinity and visited to false. Line 4: the source gets distance 0.
The while loop runs until every vertex is visited. Each time we pick the unvisited vertex u with the smallest dist, mark it visited, and then look at all its neighbours v. If dist[u] + w(u,v) is smaller than the current dist[v], we have found a shorter route, so we update dist[v] and remember parent[v] = u. The parent array lets us rebuild the actual path at the end.
The flowchart on the right shows the same logic: initialise, pick the minimum, relax its edges, and loop while any vertex is unvisited.
Mini example: three vertices A, B, C with A-B = 1, B-C = 2 and A-C = 5. Starting from A we first set B = 1 and C = 5. Then we pick B (distance 1) and relax B-C: 1 + 2 = 3, which is less than 5, so C becomes 3. The shortest path to C is A -&gt; B -&gt; C with cost 3, not the direct edge of cost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time depends on the data structure used to find the unvisited vertex with the smallest distance.
Option 1, priority queue (binary min-heap) with an adjacency list: every vertex is extracted once, costing V log V in total. Every edge can cause at most one heap insert or decrease-key, costing E log V in total. Together this is O((V + E) log V).
Option 2, adjacency matrix with a simple array: to pick the minimum we scan all V entries, and we do this V times, giving V squared. Relaxing the edges means scanning one matrix row per vertex, which is also V squared in total. So the overall time is O(V squared).
Which one to choose? In a sparse graph, where E is about V, the heap version becomes O(V log V), which is much faster than V squared. In a dense graph, where E is close to V squared, the heap version becomes O(V squared log V), so the simple matrix version at O(V squared) is actually better.
Extra fact if asked: a Fibonacci heap improves the bound to O(E + V log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it is guaranteed to give the optimal shortest path as long as all edge weights are non-negative. The idea is simple and greedy, so it is easy to code and explain. And with a priority queue it is fast on sparse graphs, which most real networks are.
Limitations: it fails if the graph has negative edge weights, because a vertex that was already finalised could later be reached more cheaply; in that case use Bellman-Ford. It only solves the single-source problem; for all pairs of vertices use Floyd-Warshall. And it expands in every direction without knowing where the goal is, so A* search with a heuristic is usually faster when we only need a path to one target.
Conclusion: Dijkstra's algorithm repeatedly picks the closest unvisited vertex and relaxes its edges. It runs in O((V + E) log V) with a priority queue, or O(V squared) with an adjacency matrix, and it underlies GPS navigation and network routing.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To recap: Dijkstra's algorithm greedily picks the closest unvisited vertex and relaxes its edges, finding shortest paths in O((V + E) log V) with a priority queue.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4480560" cy="17830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926080"/>
            <a:ext cx="4480560" cy="4114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nvSpPr>
        <p:spPr>
          <a:xfrm>
            <a:off x="548640" y="4572000"/>
            <a:ext cx="2743200" cy="274320"/>
          </a:xfrm>
          <a:prstGeom prst="rect">
            <a:avLst/>
          </a:prstGeom>
          <a:noFill/>
          <a:ln/>
        </p:spPr>
        <p:txBody>
          <a:bodyPr wrap="square" lIns="0" tIns="0" rIns="0" bIns="0" rtlCol="0" anchor="ctr"/>
          <a:lstStyle/>
          <a:p>
            <a:pPr indent="0" marL="0">
              <a:buNone/>
            </a:pPr>
            <a:r>
              <a:rPr lang="en-US" sz="1200" dirty="0">
                <a:solidFill>
                  <a:schemeClr val="bg2"/>
                </a:solidFill>
              </a:rPr>
              <a:t>Generated using Claude AI</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800600"/>
            <a:ext cx="2743200" cy="228600"/>
          </a:xfrm>
          <a:prstGeom prst="rect">
            <a:avLst/>
          </a:prstGeom>
          <a:noFill/>
          <a:ln/>
        </p:spPr>
        <p:txBody>
          <a:bodyPr wrap="square" lIns="0" tIns="0" rIns="0" bIns="0" rtlCol="0" anchor="ctr"/>
          <a:lstStyle/>
          <a:p>
            <a:pPr indent="0" marL="0">
              <a:buNone/>
            </a:pPr>
            <a:r>
              <a:rPr lang="en-US" sz="1000" dirty="0">
                <a:solidFill>
                  <a:schemeClr val="accent4"/>
                </a:solidFill>
              </a:rPr>
              <a:t>Generated using Claude AI</a:t>
            </a:r>
            <a:endParaRPr lang="en-US" sz="1000" dirty="0"/>
          </a:p>
        </p:txBody>
      </p:sp>
      <p:sp>
        <p:nvSpPr>
          <p:cNvPr id="4" name="Text 1"/>
          <p:cNvSpPr/>
          <p:nvPr/>
        </p:nvSpPr>
        <p:spPr>
          <a:xfrm>
            <a:off x="2926080" y="4800600"/>
            <a:ext cx="3291840" cy="228600"/>
          </a:xfrm>
          <a:prstGeom prst="rect">
            <a:avLst/>
          </a:prstGeom>
          <a:noFill/>
          <a:ln/>
        </p:spPr>
        <p:txBody>
          <a:bodyPr wrap="square" lIns="0" tIns="0" rIns="0" bIns="0" rtlCol="0" anchor="ctr"/>
          <a:lstStyle/>
          <a:p>
            <a:pPr algn="ctr" indent="0" marL="0">
              <a:buNone/>
            </a:pPr>
            <a:r>
              <a:rPr lang="en-US" sz="1000" dirty="0">
                <a:solidFill>
                  <a:schemeClr val="accent4"/>
                </a:solidFill>
              </a:rPr>
              <a:t>Dijkstra's Shortest Path Algorithm  |  DAA</a:t>
            </a:r>
            <a:endParaRPr lang="en-US" sz="10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94360"/>
            <a:ext cx="36576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DAA ASSIGNMENT</a:t>
            </a:r>
            <a:endParaRPr lang="en-US" sz="1200" dirty="0"/>
          </a:p>
        </p:txBody>
      </p:sp>
      <p:sp>
        <p:nvSpPr>
          <p:cNvPr id="3" name="Text 0"/>
          <p:cNvSpPr/>
          <p:nvPr>
            <p:ph idx="100" type="title" hasCustomPrompt="1"/>
          </p:nvPr>
        </p:nvSpPr>
        <p:spPr>
          <a:xfrm>
            <a:off x="548640" y="1005840"/>
            <a:ext cx="4480560" cy="1783080"/>
          </a:xfrm>
          <a:prstGeom prst="rect">
            <a:avLst/>
          </a:prstGeom>
          <a:noFill/>
          <a:ln/>
        </p:spPr>
        <p:txBody>
          <a:bodyPr wrap="square" lIns="0" tIns="0" rIns="0" bIns="0" rtlCol="0" anchor="t"/>
          <a:lstStyle/>
          <a:p>
            <a:pPr algn="l" indent="0" marL="0">
              <a:buNone/>
            </a:pPr>
            <a:r>
              <a:rPr lang="en-US" sz="3800" b="1" dirty="0">
                <a:solidFill>
                  <a:schemeClr val="bg1"/>
                </a:solidFill>
              </a:rPr>
              <a:t>Dijkstra’s</a:t>
            </a:r>
            <a:endParaRPr lang="en-US" sz="3800" dirty="0"/>
          </a:p>
          <a:p>
            <a:pPr algn="l" indent="0" marL="0">
              <a:buNone/>
            </a:pPr>
            <a:r>
              <a:rPr lang="en-US" sz="3800" b="1" dirty="0">
                <a:solidFill>
                  <a:schemeClr val="bg1"/>
                </a:solidFill>
              </a:rPr>
              <a:t>Shortest Path</a:t>
            </a:r>
            <a:endParaRPr lang="en-US" sz="3800" dirty="0"/>
          </a:p>
          <a:p>
            <a:pPr algn="l" indent="0" marL="0">
              <a:buNone/>
            </a:pPr>
            <a:r>
              <a:rPr lang="en-US" sz="3800" b="1" dirty="0">
                <a:solidFill>
                  <a:schemeClr val="bg1"/>
                </a:solidFill>
              </a:rPr>
              <a:t>Algorithm</a:t>
            </a:r>
            <a:endParaRPr lang="en-US" sz="3800" dirty="0"/>
          </a:p>
        </p:txBody>
      </p:sp>
      <p:sp>
        <p:nvSpPr>
          <p:cNvPr id="4" name="Text 0"/>
          <p:cNvSpPr/>
          <p:nvPr>
            <p:ph idx="101" type="body" hasCustomPrompt="1"/>
          </p:nvPr>
        </p:nvSpPr>
        <p:spPr>
          <a:xfrm>
            <a:off x="548640" y="2926080"/>
            <a:ext cx="4480560" cy="411480"/>
          </a:xfrm>
          <a:prstGeom prst="rect">
            <a:avLst/>
          </a:prstGeom>
          <a:noFill/>
          <a:ln/>
        </p:spPr>
        <p:txBody>
          <a:bodyPr wrap="square" lIns="0" tIns="0" rIns="0" bIns="0" rtlCol="0" anchor="t"/>
          <a:lstStyle/>
          <a:p>
            <a:pPr indent="0" marL="0">
              <a:buNone/>
            </a:pPr>
            <a:r>
              <a:rPr lang="en-US" sz="1800" dirty="0">
                <a:solidFill>
                  <a:schemeClr val="bg2"/>
                </a:solidFill>
              </a:rPr>
              <a:t>Design and Analysis of Algorithms (DAA)</a:t>
            </a:r>
            <a:endParaRPr lang="en-US" sz="1800" dirty="0"/>
          </a:p>
        </p:txBody>
      </p:sp>
      <p:sp>
        <p:nvSpPr>
          <p:cNvPr id="5" name="Text 3"/>
          <p:cNvSpPr txBox="1"/>
          <p:nvPr/>
        </p:nvSpPr>
        <p:spPr>
          <a:xfrm>
            <a:off x="548640" y="3611880"/>
            <a:ext cx="2743200" cy="228600"/>
          </a:xfrm>
          <a:prstGeom prst="rect">
            <a:avLst/>
          </a:prstGeom>
          <a:noFill/>
          <a:ln/>
        </p:spPr>
        <p:txBody>
          <a:bodyPr wrap="square" lIns="0" tIns="0" rIns="0" bIns="0" rtlCol="0" anchor="ctr"/>
          <a:lstStyle/>
          <a:p>
            <a:pPr indent="0" marL="0">
              <a:buNone/>
            </a:pPr>
            <a:r>
              <a:rPr lang="en-US" sz="1200" dirty="0">
                <a:solidFill>
                  <a:schemeClr val="bg2"/>
                </a:solidFill>
              </a:rPr>
              <a:t>Presented by</a:t>
            </a:r>
            <a:endParaRPr lang="en-US" sz="1200" dirty="0"/>
          </a:p>
        </p:txBody>
      </p:sp>
      <p:sp>
        <p:nvSpPr>
          <p:cNvPr id="6" name="Text 4"/>
          <p:cNvSpPr txBox="1"/>
          <p:nvPr/>
        </p:nvSpPr>
        <p:spPr>
          <a:xfrm>
            <a:off x="548640" y="3840480"/>
            <a:ext cx="3657600" cy="411480"/>
          </a:xfrm>
          <a:prstGeom prst="rect">
            <a:avLst/>
          </a:prstGeom>
          <a:noFill/>
          <a:ln/>
        </p:spPr>
        <p:txBody>
          <a:bodyPr wrap="square" lIns="0" tIns="0" rIns="0" bIns="0" rtlCol="0" anchor="ctr"/>
          <a:lstStyle/>
          <a:p>
            <a:pPr indent="0" marL="0">
              <a:buNone/>
            </a:pPr>
            <a:r>
              <a:rPr lang="en-US" sz="2400" b="1" dirty="0">
                <a:solidFill>
                  <a:schemeClr val="bg1"/>
                </a:solidFill>
              </a:rPr>
              <a:t>Jatin Kotha</a:t>
            </a:r>
            <a:endParaRPr lang="en-US" sz="2400" dirty="0"/>
          </a:p>
        </p:txBody>
      </p:sp>
      <p:sp>
        <p:nvSpPr>
          <p:cNvPr id="7" name="Shape 5"/>
          <p:cNvSpPr/>
          <p:nvPr/>
        </p:nvSpPr>
        <p:spPr>
          <a:xfrm flipV="1">
            <a:off x="5212080" y="1737360"/>
            <a:ext cx="1119226" cy="790042"/>
          </a:xfrm>
          <a:prstGeom prst="line">
            <a:avLst/>
          </a:prstGeom>
          <a:noFill/>
          <a:ln w="25400">
            <a:solidFill>
              <a:schemeClr val="accent4"/>
            </a:solidFill>
            <a:prstDash val="solid"/>
          </a:ln>
        </p:spPr>
      </p:sp>
      <p:sp>
        <p:nvSpPr>
          <p:cNvPr id="8" name="Shape 6"/>
          <p:cNvSpPr/>
          <p:nvPr/>
        </p:nvSpPr>
        <p:spPr>
          <a:xfrm>
            <a:off x="5212080" y="2527402"/>
            <a:ext cx="1119226" cy="790042"/>
          </a:xfrm>
          <a:prstGeom prst="line">
            <a:avLst/>
          </a:prstGeom>
          <a:noFill/>
          <a:ln w="63500">
            <a:solidFill>
              <a:schemeClr val="accent2"/>
            </a:solidFill>
            <a:prstDash val="solid"/>
          </a:ln>
        </p:spPr>
      </p:sp>
      <p:sp>
        <p:nvSpPr>
          <p:cNvPr id="9" name="Shape 7"/>
          <p:cNvSpPr/>
          <p:nvPr/>
        </p:nvSpPr>
        <p:spPr>
          <a:xfrm>
            <a:off x="6331306" y="1737360"/>
            <a:ext cx="0" cy="1580083"/>
          </a:xfrm>
          <a:prstGeom prst="line">
            <a:avLst/>
          </a:prstGeom>
          <a:noFill/>
          <a:ln w="63500">
            <a:solidFill>
              <a:schemeClr val="accent2"/>
            </a:solidFill>
            <a:prstDash val="solid"/>
          </a:ln>
        </p:spPr>
      </p:sp>
      <p:sp>
        <p:nvSpPr>
          <p:cNvPr id="10" name="Shape 8"/>
          <p:cNvSpPr/>
          <p:nvPr/>
        </p:nvSpPr>
        <p:spPr>
          <a:xfrm>
            <a:off x="6331306" y="1737360"/>
            <a:ext cx="1119226" cy="790042"/>
          </a:xfrm>
          <a:prstGeom prst="line">
            <a:avLst/>
          </a:prstGeom>
          <a:noFill/>
          <a:ln w="63500">
            <a:solidFill>
              <a:schemeClr val="accent2"/>
            </a:solidFill>
            <a:prstDash val="solid"/>
          </a:ln>
        </p:spPr>
      </p:sp>
      <p:sp>
        <p:nvSpPr>
          <p:cNvPr id="11" name="Shape 9"/>
          <p:cNvSpPr/>
          <p:nvPr/>
        </p:nvSpPr>
        <p:spPr>
          <a:xfrm flipV="1">
            <a:off x="6331306" y="2527402"/>
            <a:ext cx="1119226" cy="790042"/>
          </a:xfrm>
          <a:prstGeom prst="line">
            <a:avLst/>
          </a:prstGeom>
          <a:noFill/>
          <a:ln w="25400">
            <a:solidFill>
              <a:schemeClr val="accent4"/>
            </a:solidFill>
            <a:prstDash val="solid"/>
          </a:ln>
        </p:spPr>
      </p:sp>
      <p:sp>
        <p:nvSpPr>
          <p:cNvPr id="12" name="Shape 10"/>
          <p:cNvSpPr/>
          <p:nvPr/>
        </p:nvSpPr>
        <p:spPr>
          <a:xfrm flipV="1">
            <a:off x="6331306" y="2527402"/>
            <a:ext cx="2172614" cy="790042"/>
          </a:xfrm>
          <a:prstGeom prst="line">
            <a:avLst/>
          </a:prstGeom>
          <a:noFill/>
          <a:ln w="25400">
            <a:solidFill>
              <a:schemeClr val="accent4"/>
            </a:solidFill>
            <a:prstDash val="solid"/>
          </a:ln>
        </p:spPr>
      </p:sp>
      <p:sp>
        <p:nvSpPr>
          <p:cNvPr id="13" name="Shape 11"/>
          <p:cNvSpPr/>
          <p:nvPr/>
        </p:nvSpPr>
        <p:spPr>
          <a:xfrm>
            <a:off x="7450531" y="2527402"/>
            <a:ext cx="1053389" cy="0"/>
          </a:xfrm>
          <a:prstGeom prst="line">
            <a:avLst/>
          </a:prstGeom>
          <a:noFill/>
          <a:ln w="63500">
            <a:solidFill>
              <a:schemeClr val="accent2"/>
            </a:solidFill>
            <a:prstDash val="solid"/>
          </a:ln>
        </p:spPr>
      </p:sp>
      <p:sp>
        <p:nvSpPr>
          <p:cNvPr id="14" name="Text 12"/>
          <p:cNvSpPr txBox="1"/>
          <p:nvPr/>
        </p:nvSpPr>
        <p:spPr>
          <a:xfrm>
            <a:off x="5625389" y="2022653"/>
            <a:ext cx="292608" cy="219456"/>
          </a:xfrm>
          <a:prstGeom prst="roundRect">
            <a:avLst>
              <a:gd name="adj" fmla="val 33333"/>
            </a:avLst>
          </a:prstGeom>
          <a:solidFill>
            <a:schemeClr val="tx2"/>
          </a:solidFill>
          <a:ln w="12700">
            <a:solidFill>
              <a:schemeClr val="accent4"/>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5" name="Text 13"/>
          <p:cNvSpPr txBox="1"/>
          <p:nvPr/>
        </p:nvSpPr>
        <p:spPr>
          <a:xfrm>
            <a:off x="5625389" y="2812694"/>
            <a:ext cx="292608" cy="219456"/>
          </a:xfrm>
          <a:prstGeom prst="roundRect">
            <a:avLst>
              <a:gd name="adj" fmla="val 33333"/>
            </a:avLst>
          </a:prstGeom>
          <a:solidFill>
            <a:schemeClr val="tx2"/>
          </a:solidFill>
          <a:ln w="12700">
            <a:solidFill>
              <a:schemeClr val="accent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Text 14"/>
          <p:cNvSpPr txBox="1"/>
          <p:nvPr/>
        </p:nvSpPr>
        <p:spPr>
          <a:xfrm>
            <a:off x="6185002" y="2417674"/>
            <a:ext cx="292608" cy="219456"/>
          </a:xfrm>
          <a:prstGeom prst="roundRect">
            <a:avLst>
              <a:gd name="adj" fmla="val 33333"/>
            </a:avLst>
          </a:prstGeom>
          <a:solidFill>
            <a:schemeClr val="tx2"/>
          </a:solidFill>
          <a:ln w="12700">
            <a:solidFill>
              <a:schemeClr val="accent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7" name="Text 15"/>
          <p:cNvSpPr txBox="1"/>
          <p:nvPr/>
        </p:nvSpPr>
        <p:spPr>
          <a:xfrm>
            <a:off x="6744614" y="2022653"/>
            <a:ext cx="292608" cy="219456"/>
          </a:xfrm>
          <a:prstGeom prst="roundRect">
            <a:avLst>
              <a:gd name="adj" fmla="val 33333"/>
            </a:avLst>
          </a:prstGeom>
          <a:solidFill>
            <a:schemeClr val="tx2"/>
          </a:solidFill>
          <a:ln w="12700">
            <a:solidFill>
              <a:schemeClr val="accent2"/>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18" name="Text 16"/>
          <p:cNvSpPr txBox="1"/>
          <p:nvPr/>
        </p:nvSpPr>
        <p:spPr>
          <a:xfrm>
            <a:off x="6744614" y="2812694"/>
            <a:ext cx="292608" cy="219456"/>
          </a:xfrm>
          <a:prstGeom prst="roundRect">
            <a:avLst>
              <a:gd name="adj" fmla="val 33333"/>
            </a:avLst>
          </a:prstGeom>
          <a:solidFill>
            <a:schemeClr val="tx2"/>
          </a:solidFill>
          <a:ln w="12700">
            <a:solidFill>
              <a:schemeClr val="accent4"/>
            </a:solid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19" name="Text 17"/>
          <p:cNvSpPr txBox="1"/>
          <p:nvPr/>
        </p:nvSpPr>
        <p:spPr>
          <a:xfrm>
            <a:off x="7271309" y="2812694"/>
            <a:ext cx="292608" cy="219456"/>
          </a:xfrm>
          <a:prstGeom prst="roundRect">
            <a:avLst>
              <a:gd name="adj" fmla="val 33333"/>
            </a:avLst>
          </a:prstGeom>
          <a:solidFill>
            <a:schemeClr val="tx2"/>
          </a:solidFill>
          <a:ln w="12700">
            <a:solidFill>
              <a:schemeClr val="accent4"/>
            </a:solidFill>
          </a:ln>
        </p:spPr>
        <p:txBody>
          <a:bodyPr wrap="square" lIns="0" tIns="0" rIns="0" bIns="0" rtlCol="0" anchor="ctr"/>
          <a:lstStyle/>
          <a:p>
            <a:pPr algn="ctr" indent="0" marL="0">
              <a:buNone/>
            </a:pPr>
            <a:r>
              <a:rPr lang="en-US" sz="1100" b="1" dirty="0">
                <a:solidFill>
                  <a:schemeClr val="bg1"/>
                </a:solidFill>
              </a:rPr>
              <a:t>10</a:t>
            </a:r>
            <a:endParaRPr lang="en-US" sz="1100" dirty="0"/>
          </a:p>
        </p:txBody>
      </p:sp>
      <p:sp>
        <p:nvSpPr>
          <p:cNvPr id="20" name="Text 18"/>
          <p:cNvSpPr txBox="1"/>
          <p:nvPr/>
        </p:nvSpPr>
        <p:spPr>
          <a:xfrm>
            <a:off x="7830922" y="2417674"/>
            <a:ext cx="292608" cy="219456"/>
          </a:xfrm>
          <a:prstGeom prst="roundRect">
            <a:avLst>
              <a:gd name="adj" fmla="val 33333"/>
            </a:avLst>
          </a:prstGeom>
          <a:solidFill>
            <a:schemeClr val="tx2"/>
          </a:solidFill>
          <a:ln w="12700">
            <a:solidFill>
              <a:schemeClr val="accent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1" name="Node A"/>
          <p:cNvSpPr txBox="1"/>
          <p:nvPr/>
        </p:nvSpPr>
        <p:spPr>
          <a:xfrm>
            <a:off x="4974336" y="2289658"/>
            <a:ext cx="475488" cy="475488"/>
          </a:xfrm>
          <a:prstGeom prst="ellipse">
            <a:avLst/>
          </a:prstGeom>
          <a:solidFill>
            <a:schemeClr val="bg1"/>
          </a:solidFill>
          <a:ln w="25400">
            <a:solidFill>
              <a:schemeClr val="tx1"/>
            </a:solid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22" name="Node B"/>
          <p:cNvSpPr txBox="1"/>
          <p:nvPr/>
        </p:nvSpPr>
        <p:spPr>
          <a:xfrm>
            <a:off x="6093562" y="1499616"/>
            <a:ext cx="475488" cy="475488"/>
          </a:xfrm>
          <a:prstGeom prst="ellipse">
            <a:avLst/>
          </a:prstGeom>
          <a:solidFill>
            <a:schemeClr val="bg1"/>
          </a:solidFill>
          <a:ln w="25400">
            <a:solidFill>
              <a:schemeClr val="tx1"/>
            </a:solid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23" name="Node C"/>
          <p:cNvSpPr txBox="1"/>
          <p:nvPr/>
        </p:nvSpPr>
        <p:spPr>
          <a:xfrm>
            <a:off x="6093562" y="3079699"/>
            <a:ext cx="475488" cy="475488"/>
          </a:xfrm>
          <a:prstGeom prst="ellipse">
            <a:avLst/>
          </a:prstGeom>
          <a:solidFill>
            <a:schemeClr val="bg1"/>
          </a:solidFill>
          <a:ln w="25400">
            <a:solidFill>
              <a:schemeClr val="tx1"/>
            </a:solid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24" name="Node D"/>
          <p:cNvSpPr txBox="1"/>
          <p:nvPr/>
        </p:nvSpPr>
        <p:spPr>
          <a:xfrm>
            <a:off x="7212787" y="2289658"/>
            <a:ext cx="475488" cy="475488"/>
          </a:xfrm>
          <a:prstGeom prst="ellipse">
            <a:avLst/>
          </a:prstGeom>
          <a:solidFill>
            <a:schemeClr val="bg1"/>
          </a:solidFill>
          <a:ln w="25400">
            <a:solidFill>
              <a:schemeClr val="tx1"/>
            </a:solid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5" name="Node E"/>
          <p:cNvSpPr txBox="1"/>
          <p:nvPr/>
        </p:nvSpPr>
        <p:spPr>
          <a:xfrm>
            <a:off x="8266176" y="2289658"/>
            <a:ext cx="475488" cy="475488"/>
          </a:xfrm>
          <a:prstGeom prst="ellipse">
            <a:avLst/>
          </a:prstGeom>
          <a:solidFill>
            <a:schemeClr val="bg1"/>
          </a:solidFill>
          <a:ln w="25400">
            <a:solidFill>
              <a:schemeClr val="tx1"/>
            </a:solidFill>
          </a:ln>
        </p:spPr>
        <p:txBody>
          <a:bodyPr wrap="square" lIns="0" tIns="0" rIns="0" bIns="0" rtlCol="0" anchor="ctr"/>
          <a:lstStyle/>
          <a:p>
            <a:pPr algn="ctr" indent="0" marL="0">
              <a:buNone/>
            </a:pPr>
            <a:r>
              <a:rPr lang="en-US" sz="1500" b="1" dirty="0">
                <a:solidFill>
                  <a:schemeClr val="tx1"/>
                </a:solidFill>
              </a:rPr>
              <a:t>E</a:t>
            </a:r>
            <a:endParaRPr lang="en-US" sz="1500" dirty="0"/>
          </a:p>
        </p:txBody>
      </p:sp>
      <p:sp>
        <p:nvSpPr>
          <p:cNvPr id="26" name="Text 24"/>
          <p:cNvSpPr txBox="1"/>
          <p:nvPr/>
        </p:nvSpPr>
        <p:spPr>
          <a:xfrm>
            <a:off x="4937760" y="3840480"/>
            <a:ext cx="3840480" cy="274320"/>
          </a:xfrm>
          <a:prstGeom prst="rect">
            <a:avLst/>
          </a:prstGeom>
          <a:noFill/>
          <a:ln/>
        </p:spPr>
        <p:txBody>
          <a:bodyPr wrap="square" lIns="0" tIns="0" rIns="0" bIns="0" rtlCol="0" anchor="ctr"/>
          <a:lstStyle/>
          <a:p>
            <a:pPr algn="ctr" indent="0" marL="0">
              <a:buNone/>
            </a:pPr>
            <a:r>
              <a:rPr lang="en-US" sz="1200" i="1" dirty="0">
                <a:solidFill>
                  <a:schemeClr val="bg2"/>
                </a:solidFill>
              </a:rPr>
              <a:t>Shortest path highlighted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What is Dijkstra’s Algorithm?</a:t>
            </a:r>
            <a:endParaRPr lang="en-US" sz="3000" dirty="0"/>
          </a:p>
        </p:txBody>
      </p:sp>
      <p:sp>
        <p:nvSpPr>
          <p:cNvPr id="3" name="Definition card"/>
          <p:cNvSpPr/>
          <p:nvPr/>
        </p:nvSpPr>
        <p:spPr>
          <a:xfrm>
            <a:off x="365760" y="1097280"/>
            <a:ext cx="8412480" cy="1325880"/>
          </a:xfrm>
          <a:prstGeom prst="roundRect">
            <a:avLst>
              <a:gd name="adj" fmla="val 6897"/>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4" name="Text 2"/>
          <p:cNvSpPr txBox="1"/>
          <p:nvPr/>
        </p:nvSpPr>
        <p:spPr>
          <a:xfrm>
            <a:off x="594360" y="1188720"/>
            <a:ext cx="7955280" cy="1143000"/>
          </a:xfrm>
          <a:prstGeom prst="rect">
            <a:avLst/>
          </a:prstGeom>
          <a:noFill/>
          <a:ln/>
        </p:spPr>
        <p:txBody>
          <a:bodyPr wrap="square" lIns="0" tIns="0" rIns="0" bIns="0" rtlCol="0" anchor="ctr"/>
          <a:lstStyle/>
          <a:p>
            <a:pPr indent="0" marL="0">
              <a:spcAft>
                <a:spcPts val="400"/>
              </a:spcAft>
              <a:buNone/>
            </a:pPr>
            <a:r>
              <a:rPr lang="en-US" sz="1200" b="1" spc="200" kern="0" dirty="0">
                <a:solidFill>
                  <a:schemeClr val="accent1"/>
                </a:solidFill>
              </a:rPr>
              <a:t>DEFINITION</a:t>
            </a:r>
            <a:endParaRPr lang="en-US" sz="1200" dirty="0"/>
          </a:p>
          <a:p>
            <a:pPr indent="0" marL="0">
              <a:spcAft>
                <a:spcPts val="400"/>
              </a:spcAft>
              <a:buNone/>
            </a:pPr>
            <a:r>
              <a:rPr lang="en-US" sz="1700" dirty="0">
                <a:solidFill>
                  <a:schemeClr val="tx1"/>
                </a:solidFill>
              </a:rPr>
              <a:t>Dijkstra’s algorithm finds the shortest path from one source vertex to every other vertex in a weighted graph whose edge weights are non-negative.</a:t>
            </a:r>
            <a:endParaRPr lang="en-US" sz="1200" dirty="0"/>
          </a:p>
          <a:p>
            <a:pPr indent="0" marL="0">
              <a:spcAft>
                <a:spcPts val="400"/>
              </a:spcAft>
              <a:buNone/>
            </a:pPr>
            <a:r>
              <a:rPr lang="en-US" sz="1300" i="1" dirty="0">
                <a:solidFill>
                  <a:schemeClr val="accent4"/>
                </a:solidFill>
              </a:rPr>
              <a:t>Proposed by Dutch computer scientist Edsger W. Dijkstra (conceived 1956, published 1959).</a:t>
            </a:r>
            <a:endParaRPr lang="en-US" sz="1200" dirty="0"/>
          </a:p>
        </p:txBody>
      </p:sp>
      <p:sp>
        <p:nvSpPr>
          <p:cNvPr id="5" name="Feature card 1"/>
          <p:cNvSpPr/>
          <p:nvPr/>
        </p:nvSpPr>
        <p:spPr>
          <a:xfrm>
            <a:off x="365760" y="2606040"/>
            <a:ext cx="2679192" cy="1371600"/>
          </a:xfrm>
          <a:prstGeom prst="roundRect">
            <a:avLst>
              <a:gd name="adj" fmla="val 6667"/>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6" name="FaBullseye circle"/>
          <p:cNvSpPr/>
          <p:nvPr/>
        </p:nvSpPr>
        <p:spPr>
          <a:xfrm>
            <a:off x="548640" y="2743200"/>
            <a:ext cx="457200" cy="457200"/>
          </a:xfrm>
          <a:prstGeom prst="ellipse">
            <a:avLst/>
          </a:prstGeom>
          <a:solidFill>
            <a:schemeClr val="accent1"/>
          </a:solidFill>
          <a:ln w="12700">
            <a:solidFill>
              <a:schemeClr val="accent1"/>
            </a:solidFill>
            <a:prstDash val="solid"/>
          </a:ln>
        </p:spPr>
      </p:sp>
      <p:pic>
        <p:nvPicPr>
          <p:cNvPr id="7" name="FaBullseye" descr="FaBullseye">    </p:cNvPr>
          <p:cNvPicPr>
            <a:picLocks noChangeAspect="1"/>
          </p:cNvPicPr>
          <p:nvPr/>
        </p:nvPicPr>
        <p:blipFill>
          <a:blip r:embed="rId1"/>
          <a:stretch>
            <a:fillRect/>
          </a:stretch>
        </p:blipFill>
        <p:spPr>
          <a:xfrm>
            <a:off x="662940" y="2857500"/>
            <a:ext cx="228600" cy="228600"/>
          </a:xfrm>
          <a:prstGeom prst="rect">
            <a:avLst/>
          </a:prstGeom>
        </p:spPr>
      </p:pic>
      <p:sp>
        <p:nvSpPr>
          <p:cNvPr id="8" name="Text 5"/>
          <p:cNvSpPr txBox="1"/>
          <p:nvPr/>
        </p:nvSpPr>
        <p:spPr>
          <a:xfrm>
            <a:off x="1143000" y="274320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Greedy approach</a:t>
            </a:r>
            <a:endParaRPr lang="en-US" sz="1500" dirty="0"/>
          </a:p>
        </p:txBody>
      </p:sp>
      <p:sp>
        <p:nvSpPr>
          <p:cNvPr id="9" name="Text 6"/>
          <p:cNvSpPr txBox="1"/>
          <p:nvPr/>
        </p:nvSpPr>
        <p:spPr>
          <a:xfrm>
            <a:off x="548640" y="3310128"/>
            <a:ext cx="2331720" cy="594360"/>
          </a:xfrm>
          <a:prstGeom prst="rect">
            <a:avLst/>
          </a:prstGeom>
          <a:noFill/>
          <a:ln/>
        </p:spPr>
        <p:txBody>
          <a:bodyPr wrap="square" lIns="0" tIns="0" rIns="0" bIns="0" rtlCol="0" anchor="t"/>
          <a:lstStyle/>
          <a:p>
            <a:pPr indent="0" marL="0">
              <a:buNone/>
            </a:pPr>
            <a:r>
              <a:rPr lang="en-US" sz="1400" dirty="0">
                <a:solidFill>
                  <a:schemeClr val="tx1"/>
                </a:solidFill>
              </a:rPr>
              <a:t>Always expands the closest unvisited vertex next.</a:t>
            </a:r>
            <a:endParaRPr lang="en-US" sz="1400" dirty="0"/>
          </a:p>
        </p:txBody>
      </p:sp>
      <p:sp>
        <p:nvSpPr>
          <p:cNvPr id="10" name="Feature card 2"/>
          <p:cNvSpPr/>
          <p:nvPr/>
        </p:nvSpPr>
        <p:spPr>
          <a:xfrm>
            <a:off x="3227832" y="2606040"/>
            <a:ext cx="2679192" cy="1371600"/>
          </a:xfrm>
          <a:prstGeom prst="roundRect">
            <a:avLst>
              <a:gd name="adj" fmla="val 6667"/>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11" name="FaSitemap circle"/>
          <p:cNvSpPr/>
          <p:nvPr/>
        </p:nvSpPr>
        <p:spPr>
          <a:xfrm>
            <a:off x="3410712" y="2743200"/>
            <a:ext cx="457200" cy="457200"/>
          </a:xfrm>
          <a:prstGeom prst="ellipse">
            <a:avLst/>
          </a:prstGeom>
          <a:solidFill>
            <a:schemeClr val="accent1"/>
          </a:solidFill>
          <a:ln w="12700">
            <a:solidFill>
              <a:schemeClr val="accent1"/>
            </a:solidFill>
            <a:prstDash val="solid"/>
          </a:ln>
        </p:spPr>
      </p:sp>
      <p:pic>
        <p:nvPicPr>
          <p:cNvPr id="12" name="FaSitemap" descr="FaSitemap">    </p:cNvPr>
          <p:cNvPicPr>
            <a:picLocks noChangeAspect="1"/>
          </p:cNvPicPr>
          <p:nvPr/>
        </p:nvPicPr>
        <p:blipFill>
          <a:blip r:embed="rId2"/>
          <a:stretch>
            <a:fillRect/>
          </a:stretch>
        </p:blipFill>
        <p:spPr>
          <a:xfrm>
            <a:off x="3525012" y="2857500"/>
            <a:ext cx="228600" cy="228600"/>
          </a:xfrm>
          <a:prstGeom prst="rect">
            <a:avLst/>
          </a:prstGeom>
        </p:spPr>
      </p:pic>
      <p:sp>
        <p:nvSpPr>
          <p:cNvPr id="13" name="Text 9"/>
          <p:cNvSpPr txBox="1"/>
          <p:nvPr/>
        </p:nvSpPr>
        <p:spPr>
          <a:xfrm>
            <a:off x="4005072" y="274320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Single-source</a:t>
            </a:r>
            <a:endParaRPr lang="en-US" sz="1500" dirty="0"/>
          </a:p>
        </p:txBody>
      </p:sp>
      <p:sp>
        <p:nvSpPr>
          <p:cNvPr id="14" name="Text 10"/>
          <p:cNvSpPr txBox="1"/>
          <p:nvPr/>
        </p:nvSpPr>
        <p:spPr>
          <a:xfrm>
            <a:off x="3410712" y="3310128"/>
            <a:ext cx="2331720" cy="594360"/>
          </a:xfrm>
          <a:prstGeom prst="rect">
            <a:avLst/>
          </a:prstGeom>
          <a:noFill/>
          <a:ln/>
        </p:spPr>
        <p:txBody>
          <a:bodyPr wrap="square" lIns="0" tIns="0" rIns="0" bIns="0" rtlCol="0" anchor="t"/>
          <a:lstStyle/>
          <a:p>
            <a:pPr indent="0" marL="0">
              <a:buNone/>
            </a:pPr>
            <a:r>
              <a:rPr lang="en-US" sz="1400" dirty="0">
                <a:solidFill>
                  <a:schemeClr val="tx1"/>
                </a:solidFill>
              </a:rPr>
              <a:t>Gives the shortest distance from one source to all vertices.</a:t>
            </a:r>
            <a:endParaRPr lang="en-US" sz="1400" dirty="0"/>
          </a:p>
        </p:txBody>
      </p:sp>
      <p:sp>
        <p:nvSpPr>
          <p:cNvPr id="15" name="Feature card 3"/>
          <p:cNvSpPr/>
          <p:nvPr/>
        </p:nvSpPr>
        <p:spPr>
          <a:xfrm>
            <a:off x="6089904" y="2606040"/>
            <a:ext cx="2679192" cy="1371600"/>
          </a:xfrm>
          <a:prstGeom prst="roundRect">
            <a:avLst>
              <a:gd name="adj" fmla="val 6667"/>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16" name="FaPlusCircle circle"/>
          <p:cNvSpPr/>
          <p:nvPr/>
        </p:nvSpPr>
        <p:spPr>
          <a:xfrm>
            <a:off x="6272784" y="2743200"/>
            <a:ext cx="457200" cy="457200"/>
          </a:xfrm>
          <a:prstGeom prst="ellipse">
            <a:avLst/>
          </a:prstGeom>
          <a:solidFill>
            <a:schemeClr val="accent1"/>
          </a:solidFill>
          <a:ln w="12700">
            <a:solidFill>
              <a:schemeClr val="accent1"/>
            </a:solidFill>
            <a:prstDash val="solid"/>
          </a:ln>
        </p:spPr>
      </p:sp>
      <p:pic>
        <p:nvPicPr>
          <p:cNvPr id="17" name="FaPlusCircle" descr="FaPlusCircle">    </p:cNvPr>
          <p:cNvPicPr>
            <a:picLocks noChangeAspect="1"/>
          </p:cNvPicPr>
          <p:nvPr/>
        </p:nvPicPr>
        <p:blipFill>
          <a:blip r:embed="rId3"/>
          <a:stretch>
            <a:fillRect/>
          </a:stretch>
        </p:blipFill>
        <p:spPr>
          <a:xfrm>
            <a:off x="6387084" y="2857500"/>
            <a:ext cx="228600" cy="228600"/>
          </a:xfrm>
          <a:prstGeom prst="rect">
            <a:avLst/>
          </a:prstGeom>
        </p:spPr>
      </p:pic>
      <p:sp>
        <p:nvSpPr>
          <p:cNvPr id="18" name="Text 13"/>
          <p:cNvSpPr txBox="1"/>
          <p:nvPr/>
        </p:nvSpPr>
        <p:spPr>
          <a:xfrm>
            <a:off x="6867144" y="274320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Non-negative weights</a:t>
            </a:r>
            <a:endParaRPr lang="en-US" sz="1500" dirty="0"/>
          </a:p>
        </p:txBody>
      </p:sp>
      <p:sp>
        <p:nvSpPr>
          <p:cNvPr id="19" name="Text 14"/>
          <p:cNvSpPr txBox="1"/>
          <p:nvPr/>
        </p:nvSpPr>
        <p:spPr>
          <a:xfrm>
            <a:off x="6272784" y="3310128"/>
            <a:ext cx="2331720" cy="594360"/>
          </a:xfrm>
          <a:prstGeom prst="rect">
            <a:avLst/>
          </a:prstGeom>
          <a:noFill/>
          <a:ln/>
        </p:spPr>
        <p:txBody>
          <a:bodyPr wrap="square" lIns="0" tIns="0" rIns="0" bIns="0" rtlCol="0" anchor="t"/>
          <a:lstStyle/>
          <a:p>
            <a:pPr indent="0" marL="0">
              <a:buNone/>
            </a:pPr>
            <a:r>
              <a:rPr lang="en-US" sz="1400" dirty="0">
                <a:solidFill>
                  <a:schemeClr val="tx1"/>
                </a:solidFill>
              </a:rPr>
              <a:t>Every edge weight must be 0 or more for correctness.</a:t>
            </a:r>
            <a:endParaRPr lang="en-US" sz="1400" dirty="0"/>
          </a:p>
        </p:txBody>
      </p:sp>
      <p:sp>
        <p:nvSpPr>
          <p:cNvPr id="20" name="Text 15"/>
          <p:cNvSpPr txBox="1"/>
          <p:nvPr/>
        </p:nvSpPr>
        <p:spPr>
          <a:xfrm>
            <a:off x="365760" y="4114800"/>
            <a:ext cx="3108960" cy="502920"/>
          </a:xfrm>
          <a:prstGeom prst="roundRect">
            <a:avLst>
              <a:gd name="adj" fmla="val 18182"/>
            </a:avLst>
          </a:prstGeom>
          <a:solidFill>
            <a:schemeClr val="bg1"/>
          </a:solidFill>
          <a:ln>
            <a:solidFill>
              <a:schemeClr val="bg1"/>
            </a:solidFill>
          </a:ln>
        </p:spPr>
        <p:txBody>
          <a:bodyPr wrap="square" lIns="635" tIns="635" rIns="635" bIns="635" rtlCol="0" anchor="ctr"/>
          <a:lstStyle/>
          <a:p>
            <a:pPr algn="ctr" indent="0" marL="0">
              <a:buNone/>
            </a:pPr>
            <a:r>
              <a:rPr lang="en-US" sz="1300" b="1" dirty="0">
                <a:solidFill>
                  <a:schemeClr val="tx1"/>
                </a:solidFill>
              </a:rPr>
              <a:t>Input: weighted graph + source</a:t>
            </a:r>
            <a:endParaRPr lang="en-US" sz="1300" dirty="0"/>
          </a:p>
        </p:txBody>
      </p:sp>
      <p:sp>
        <p:nvSpPr>
          <p:cNvPr id="21" name="Shape 16"/>
          <p:cNvSpPr/>
          <p:nvPr/>
        </p:nvSpPr>
        <p:spPr>
          <a:xfrm>
            <a:off x="3566160" y="4366260"/>
            <a:ext cx="274320" cy="0"/>
          </a:xfrm>
          <a:prstGeom prst="line">
            <a:avLst/>
          </a:prstGeom>
          <a:noFill/>
          <a:ln w="38100">
            <a:solidFill>
              <a:schemeClr val="accent2"/>
            </a:solidFill>
            <a:prstDash val="solid"/>
            <a:tailEnd type="triangle"/>
          </a:ln>
        </p:spPr>
      </p:sp>
      <p:sp>
        <p:nvSpPr>
          <p:cNvPr id="22" name="Text 17"/>
          <p:cNvSpPr txBox="1"/>
          <p:nvPr/>
        </p:nvSpPr>
        <p:spPr>
          <a:xfrm>
            <a:off x="3931920" y="4114800"/>
            <a:ext cx="1463040" cy="502920"/>
          </a:xfrm>
          <a:prstGeom prst="roundRect">
            <a:avLst>
              <a:gd name="adj" fmla="val 18182"/>
            </a:avLst>
          </a:prstGeom>
          <a:solidFill>
            <a:schemeClr val="tx1"/>
          </a:solidFill>
          <a:ln>
            <a:solidFill>
              <a:schemeClr val="tx1"/>
            </a:solidFill>
          </a:ln>
        </p:spPr>
        <p:txBody>
          <a:bodyPr wrap="square" lIns="635" tIns="635" rIns="635" bIns="635" rtlCol="0" anchor="ctr"/>
          <a:lstStyle/>
          <a:p>
            <a:pPr algn="ctr" indent="0" marL="0">
              <a:buNone/>
            </a:pPr>
            <a:r>
              <a:rPr lang="en-US" sz="1300" b="1" dirty="0">
                <a:solidFill>
                  <a:schemeClr val="bg1"/>
                </a:solidFill>
              </a:rPr>
              <a:t>Dijkstra</a:t>
            </a:r>
            <a:endParaRPr lang="en-US" sz="1300" dirty="0"/>
          </a:p>
        </p:txBody>
      </p:sp>
      <p:sp>
        <p:nvSpPr>
          <p:cNvPr id="23" name="Shape 18"/>
          <p:cNvSpPr/>
          <p:nvPr/>
        </p:nvSpPr>
        <p:spPr>
          <a:xfrm>
            <a:off x="5486400" y="4366260"/>
            <a:ext cx="274320" cy="0"/>
          </a:xfrm>
          <a:prstGeom prst="line">
            <a:avLst/>
          </a:prstGeom>
          <a:noFill/>
          <a:ln w="38100">
            <a:solidFill>
              <a:schemeClr val="accent2"/>
            </a:solidFill>
            <a:prstDash val="solid"/>
            <a:tailEnd type="triangle"/>
          </a:ln>
        </p:spPr>
      </p:sp>
      <p:sp>
        <p:nvSpPr>
          <p:cNvPr id="24" name="Text 19"/>
          <p:cNvSpPr txBox="1"/>
          <p:nvPr/>
        </p:nvSpPr>
        <p:spPr>
          <a:xfrm>
            <a:off x="5852160" y="4114800"/>
            <a:ext cx="2926080" cy="502920"/>
          </a:xfrm>
          <a:prstGeom prst="roundRect">
            <a:avLst>
              <a:gd name="adj" fmla="val 18182"/>
            </a:avLst>
          </a:prstGeom>
          <a:solidFill>
            <a:schemeClr val="bg1"/>
          </a:solidFill>
          <a:ln>
            <a:solidFill>
              <a:schemeClr val="bg1"/>
            </a:solidFill>
          </a:ln>
        </p:spPr>
        <p:txBody>
          <a:bodyPr wrap="square" lIns="635" tIns="635" rIns="635" bIns="635" rtlCol="0" anchor="ctr"/>
          <a:lstStyle/>
          <a:p>
            <a:pPr algn="ctr" indent="0" marL="0">
              <a:buNone/>
            </a:pPr>
            <a:r>
              <a:rPr lang="en-US" sz="1300" b="1" dirty="0">
                <a:solidFill>
                  <a:schemeClr val="tx1"/>
                </a:solidFill>
              </a:rPr>
              <a:t>Output: shortest paths + distances</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Real-World Applications</a:t>
            </a:r>
            <a:endParaRPr lang="en-US" sz="3000" dirty="0"/>
          </a:p>
        </p:txBody>
      </p:sp>
      <p:sp>
        <p:nvSpPr>
          <p:cNvPr id="3" name="App card 1"/>
          <p:cNvSpPr/>
          <p:nvPr/>
        </p:nvSpPr>
        <p:spPr>
          <a:xfrm>
            <a:off x="365760" y="1097280"/>
            <a:ext cx="2679192" cy="2788920"/>
          </a:xfrm>
          <a:prstGeom prst="roundRect">
            <a:avLst>
              <a:gd name="adj" fmla="val 3413"/>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4" name="FaMapMarkedAlt circle"/>
          <p:cNvSpPr/>
          <p:nvPr/>
        </p:nvSpPr>
        <p:spPr>
          <a:xfrm>
            <a:off x="548640" y="1261872"/>
            <a:ext cx="548640" cy="548640"/>
          </a:xfrm>
          <a:prstGeom prst="ellipse">
            <a:avLst/>
          </a:prstGeom>
          <a:solidFill>
            <a:schemeClr val="accent1"/>
          </a:solidFill>
          <a:ln w="12700">
            <a:solidFill>
              <a:schemeClr val="accent1"/>
            </a:solidFill>
            <a:prstDash val="solid"/>
          </a:ln>
        </p:spPr>
      </p:sp>
      <p:pic>
        <p:nvPicPr>
          <p:cNvPr id="5" name="FaMapMarkedAlt" descr="FaMapMarkedAlt">    </p:cNvPr>
          <p:cNvPicPr>
            <a:picLocks noChangeAspect="1"/>
          </p:cNvPicPr>
          <p:nvPr/>
        </p:nvPicPr>
        <p:blipFill>
          <a:blip r:embed="rId1"/>
          <a:stretch>
            <a:fillRect/>
          </a:stretch>
        </p:blipFill>
        <p:spPr>
          <a:xfrm>
            <a:off x="685800" y="1399032"/>
            <a:ext cx="274320" cy="274320"/>
          </a:xfrm>
          <a:prstGeom prst="rect">
            <a:avLst/>
          </a:prstGeom>
        </p:spPr>
      </p:pic>
      <p:sp>
        <p:nvSpPr>
          <p:cNvPr id="6" name="Text 3"/>
          <p:cNvSpPr txBox="1"/>
          <p:nvPr/>
        </p:nvSpPr>
        <p:spPr>
          <a:xfrm>
            <a:off x="548640" y="1920240"/>
            <a:ext cx="2331720" cy="320040"/>
          </a:xfrm>
          <a:prstGeom prst="rect">
            <a:avLst/>
          </a:prstGeom>
          <a:noFill/>
          <a:ln/>
        </p:spPr>
        <p:txBody>
          <a:bodyPr wrap="square" lIns="0" tIns="0" rIns="0" bIns="0" rtlCol="0" anchor="ctr"/>
          <a:lstStyle/>
          <a:p>
            <a:pPr indent="0" marL="0">
              <a:buNone/>
            </a:pPr>
            <a:r>
              <a:rPr lang="en-US" sz="1700" b="1" dirty="0">
                <a:solidFill>
                  <a:schemeClr val="tx1"/>
                </a:solidFill>
              </a:rPr>
              <a:t>GPS Navigation</a:t>
            </a:r>
            <a:endParaRPr lang="en-US" sz="1700" dirty="0"/>
          </a:p>
        </p:txBody>
      </p:sp>
      <p:sp>
        <p:nvSpPr>
          <p:cNvPr id="7" name="Text 4"/>
          <p:cNvSpPr txBox="1"/>
          <p:nvPr/>
        </p:nvSpPr>
        <p:spPr>
          <a:xfrm>
            <a:off x="548640" y="2331720"/>
            <a:ext cx="237744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Finds the fastest or shortest route</a:t>
            </a:r>
            <a:endParaRPr lang="en-US" sz="1400" dirty="0"/>
          </a:p>
          <a:p>
            <a:pPr marL="342900" indent="-342900">
              <a:spcAft>
                <a:spcPts val="500"/>
              </a:spcAft>
              <a:buSzPct val="100000"/>
              <a:buChar char="•"/>
            </a:pPr>
            <a:r>
              <a:rPr lang="en-US" sz="1400" dirty="0">
                <a:solidFill>
                  <a:schemeClr val="tx1"/>
                </a:solidFill>
              </a:rPr>
              <a:t>Weights = distance or travel time</a:t>
            </a:r>
            <a:endParaRPr lang="en-US" sz="1400" dirty="0"/>
          </a:p>
          <a:p>
            <a:pPr marL="342900" indent="-342900">
              <a:spcAft>
                <a:spcPts val="500"/>
              </a:spcAft>
              <a:buSzPct val="100000"/>
              <a:buChar char="•"/>
            </a:pPr>
            <a:r>
              <a:rPr lang="en-US" sz="1400" dirty="0">
                <a:solidFill>
                  <a:schemeClr val="tx1"/>
                </a:solidFill>
              </a:rPr>
              <a:t>Real systems use faster Dijkstra variants</a:t>
            </a:r>
            <a:endParaRPr lang="en-US" sz="1400" dirty="0"/>
          </a:p>
        </p:txBody>
      </p:sp>
      <p:sp>
        <p:nvSpPr>
          <p:cNvPr id="8" name="App card 2"/>
          <p:cNvSpPr/>
          <p:nvPr/>
        </p:nvSpPr>
        <p:spPr>
          <a:xfrm>
            <a:off x="3227832" y="1097280"/>
            <a:ext cx="2679192" cy="2788920"/>
          </a:xfrm>
          <a:prstGeom prst="roundRect">
            <a:avLst>
              <a:gd name="adj" fmla="val 3413"/>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9" name="FaRoad circle"/>
          <p:cNvSpPr/>
          <p:nvPr/>
        </p:nvSpPr>
        <p:spPr>
          <a:xfrm>
            <a:off x="3410712" y="1261872"/>
            <a:ext cx="548640" cy="548640"/>
          </a:xfrm>
          <a:prstGeom prst="ellipse">
            <a:avLst/>
          </a:prstGeom>
          <a:solidFill>
            <a:schemeClr val="accent1"/>
          </a:solidFill>
          <a:ln w="12700">
            <a:solidFill>
              <a:schemeClr val="accent1"/>
            </a:solidFill>
            <a:prstDash val="solid"/>
          </a:ln>
        </p:spPr>
      </p:sp>
      <p:pic>
        <p:nvPicPr>
          <p:cNvPr id="10" name="FaRoad" descr="FaRoad">    </p:cNvPr>
          <p:cNvPicPr>
            <a:picLocks noChangeAspect="1"/>
          </p:cNvPicPr>
          <p:nvPr/>
        </p:nvPicPr>
        <p:blipFill>
          <a:blip r:embed="rId2"/>
          <a:stretch>
            <a:fillRect/>
          </a:stretch>
        </p:blipFill>
        <p:spPr>
          <a:xfrm>
            <a:off x="3547872" y="1399032"/>
            <a:ext cx="274320" cy="274320"/>
          </a:xfrm>
          <a:prstGeom prst="rect">
            <a:avLst/>
          </a:prstGeom>
        </p:spPr>
      </p:pic>
      <p:sp>
        <p:nvSpPr>
          <p:cNvPr id="11" name="Text 7"/>
          <p:cNvSpPr txBox="1"/>
          <p:nvPr/>
        </p:nvSpPr>
        <p:spPr>
          <a:xfrm>
            <a:off x="3410712" y="1920240"/>
            <a:ext cx="2331720" cy="320040"/>
          </a:xfrm>
          <a:prstGeom prst="rect">
            <a:avLst/>
          </a:prstGeom>
          <a:noFill/>
          <a:ln/>
        </p:spPr>
        <p:txBody>
          <a:bodyPr wrap="square" lIns="0" tIns="0" rIns="0" bIns="0" rtlCol="0" anchor="ctr"/>
          <a:lstStyle/>
          <a:p>
            <a:pPr indent="0" marL="0">
              <a:buNone/>
            </a:pPr>
            <a:r>
              <a:rPr lang="en-US" sz="1700" b="1" dirty="0">
                <a:solidFill>
                  <a:schemeClr val="tx1"/>
                </a:solidFill>
              </a:rPr>
              <a:t>Road Networks</a:t>
            </a:r>
            <a:endParaRPr lang="en-US" sz="1700" dirty="0"/>
          </a:p>
        </p:txBody>
      </p:sp>
      <p:sp>
        <p:nvSpPr>
          <p:cNvPr id="12" name="Text 8"/>
          <p:cNvSpPr txBox="1"/>
          <p:nvPr/>
        </p:nvSpPr>
        <p:spPr>
          <a:xfrm>
            <a:off x="3410712" y="2331720"/>
            <a:ext cx="237744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Junctions = vertices, roads = edges</a:t>
            </a:r>
            <a:endParaRPr lang="en-US" sz="1400" dirty="0"/>
          </a:p>
          <a:p>
            <a:pPr marL="342900" indent="-342900">
              <a:spcAft>
                <a:spcPts val="500"/>
              </a:spcAft>
              <a:buSzPct val="100000"/>
              <a:buChar char="•"/>
            </a:pPr>
            <a:r>
              <a:rPr lang="en-US" sz="1400" dirty="0">
                <a:solidFill>
                  <a:schemeClr val="tx1"/>
                </a:solidFill>
              </a:rPr>
              <a:t>Traffic and tolls change the weights</a:t>
            </a:r>
            <a:endParaRPr lang="en-US" sz="1400" dirty="0"/>
          </a:p>
          <a:p>
            <a:pPr marL="342900" indent="-342900">
              <a:spcAft>
                <a:spcPts val="500"/>
              </a:spcAft>
              <a:buSzPct val="100000"/>
              <a:buChar char="•"/>
            </a:pPr>
            <a:r>
              <a:rPr lang="en-US" sz="1400" dirty="0">
                <a:solidFill>
                  <a:schemeClr val="tx1"/>
                </a:solidFill>
              </a:rPr>
              <a:t>Used in city planning and logistics</a:t>
            </a:r>
            <a:endParaRPr lang="en-US" sz="1400" dirty="0"/>
          </a:p>
        </p:txBody>
      </p:sp>
      <p:sp>
        <p:nvSpPr>
          <p:cNvPr id="13" name="App card 3"/>
          <p:cNvSpPr/>
          <p:nvPr/>
        </p:nvSpPr>
        <p:spPr>
          <a:xfrm>
            <a:off x="6089904" y="1097280"/>
            <a:ext cx="2679192" cy="2788920"/>
          </a:xfrm>
          <a:prstGeom prst="roundRect">
            <a:avLst>
              <a:gd name="adj" fmla="val 3413"/>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14" name="FaNetworkWired circle"/>
          <p:cNvSpPr/>
          <p:nvPr/>
        </p:nvSpPr>
        <p:spPr>
          <a:xfrm>
            <a:off x="6272784" y="1261872"/>
            <a:ext cx="548640" cy="548640"/>
          </a:xfrm>
          <a:prstGeom prst="ellipse">
            <a:avLst/>
          </a:prstGeom>
          <a:solidFill>
            <a:schemeClr val="accent1"/>
          </a:solidFill>
          <a:ln w="12700">
            <a:solidFill>
              <a:schemeClr val="accent1"/>
            </a:solidFill>
            <a:prstDash val="solid"/>
          </a:ln>
        </p:spPr>
      </p:sp>
      <p:pic>
        <p:nvPicPr>
          <p:cNvPr id="15" name="FaNetworkWired" descr="FaNetworkWired">    </p:cNvPr>
          <p:cNvPicPr>
            <a:picLocks noChangeAspect="1"/>
          </p:cNvPicPr>
          <p:nvPr/>
        </p:nvPicPr>
        <p:blipFill>
          <a:blip r:embed="rId3"/>
          <a:stretch>
            <a:fillRect/>
          </a:stretch>
        </p:blipFill>
        <p:spPr>
          <a:xfrm>
            <a:off x="6409944" y="1399032"/>
            <a:ext cx="274320" cy="274320"/>
          </a:xfrm>
          <a:prstGeom prst="rect">
            <a:avLst/>
          </a:prstGeom>
        </p:spPr>
      </p:pic>
      <p:sp>
        <p:nvSpPr>
          <p:cNvPr id="16" name="Text 11"/>
          <p:cNvSpPr txBox="1"/>
          <p:nvPr/>
        </p:nvSpPr>
        <p:spPr>
          <a:xfrm>
            <a:off x="6272784" y="1920240"/>
            <a:ext cx="2331720" cy="320040"/>
          </a:xfrm>
          <a:prstGeom prst="rect">
            <a:avLst/>
          </a:prstGeom>
          <a:noFill/>
          <a:ln/>
        </p:spPr>
        <p:txBody>
          <a:bodyPr wrap="square" lIns="0" tIns="0" rIns="0" bIns="0" rtlCol="0" anchor="ctr"/>
          <a:lstStyle/>
          <a:p>
            <a:pPr indent="0" marL="0">
              <a:buNone/>
            </a:pPr>
            <a:r>
              <a:rPr lang="en-US" sz="1700" b="1" dirty="0">
                <a:solidFill>
                  <a:schemeClr val="tx1"/>
                </a:solidFill>
              </a:rPr>
              <a:t>Computer Networks</a:t>
            </a:r>
            <a:endParaRPr lang="en-US" sz="1700" dirty="0"/>
          </a:p>
        </p:txBody>
      </p:sp>
      <p:sp>
        <p:nvSpPr>
          <p:cNvPr id="17" name="Text 12"/>
          <p:cNvSpPr txBox="1"/>
          <p:nvPr/>
        </p:nvSpPr>
        <p:spPr>
          <a:xfrm>
            <a:off x="6272784" y="2331720"/>
            <a:ext cx="237744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Routers = vertices, links = edges</a:t>
            </a:r>
            <a:endParaRPr lang="en-US" sz="1400" dirty="0"/>
          </a:p>
          <a:p>
            <a:pPr marL="342900" indent="-342900">
              <a:spcAft>
                <a:spcPts val="500"/>
              </a:spcAft>
              <a:buSzPct val="100000"/>
              <a:buChar char="•"/>
            </a:pPr>
            <a:r>
              <a:rPr lang="en-US" sz="1400" dirty="0">
                <a:solidFill>
                  <a:schemeClr val="tx1"/>
                </a:solidFill>
              </a:rPr>
              <a:t>OSPF and IS-IS routing use it</a:t>
            </a:r>
            <a:endParaRPr lang="en-US" sz="1400" dirty="0"/>
          </a:p>
          <a:p>
            <a:pPr marL="342900" indent="-342900">
              <a:spcAft>
                <a:spcPts val="500"/>
              </a:spcAft>
              <a:buSzPct val="100000"/>
              <a:buChar char="•"/>
            </a:pPr>
            <a:r>
              <a:rPr lang="en-US" sz="1400" dirty="0">
                <a:solidFill>
                  <a:schemeClr val="tx1"/>
                </a:solidFill>
              </a:rPr>
              <a:t>Picks the lowest-cost path for packets</a:t>
            </a:r>
            <a:endParaRPr lang="en-US" sz="1400" dirty="0"/>
          </a:p>
        </p:txBody>
      </p:sp>
      <p:sp>
        <p:nvSpPr>
          <p:cNvPr id="18" name="Mapping band"/>
          <p:cNvSpPr/>
          <p:nvPr/>
        </p:nvSpPr>
        <p:spPr>
          <a:xfrm>
            <a:off x="365760" y="4023360"/>
            <a:ext cx="8412480" cy="594360"/>
          </a:xfrm>
          <a:prstGeom prst="roundRect">
            <a:avLst>
              <a:gd name="adj" fmla="val 15385"/>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19" name="Text 14"/>
          <p:cNvSpPr txBox="1"/>
          <p:nvPr/>
        </p:nvSpPr>
        <p:spPr>
          <a:xfrm>
            <a:off x="548640" y="4023360"/>
            <a:ext cx="2651760" cy="594360"/>
          </a:xfrm>
          <a:prstGeom prst="rect">
            <a:avLst/>
          </a:prstGeom>
          <a:noFill/>
          <a:ln/>
        </p:spPr>
        <p:txBody>
          <a:bodyPr wrap="square" lIns="0" tIns="0" rIns="0" bIns="0" rtlCol="0" anchor="ctr"/>
          <a:lstStyle/>
          <a:p>
            <a:pPr algn="ctr" indent="0" marL="0">
              <a:buNone/>
            </a:pPr>
            <a:r>
              <a:rPr lang="en-US" sz="1400" b="1" dirty="0">
                <a:solidFill>
                  <a:schemeClr val="accent1"/>
                </a:solidFill>
              </a:rPr>
              <a:t>Vertex </a:t>
            </a:r>
            <a:pPr algn="ctr" indent="0" marL="0">
              <a:buNone/>
            </a:pPr>
            <a:r>
              <a:rPr lang="en-US" sz="1400" dirty="0">
                <a:solidFill>
                  <a:schemeClr val="tx1"/>
                </a:solidFill>
              </a:rPr>
              <a:t>= place or router</a:t>
            </a:r>
            <a:endParaRPr lang="en-US" sz="1400" dirty="0"/>
          </a:p>
        </p:txBody>
      </p:sp>
      <p:sp>
        <p:nvSpPr>
          <p:cNvPr id="20" name="Text 15"/>
          <p:cNvSpPr txBox="1"/>
          <p:nvPr/>
        </p:nvSpPr>
        <p:spPr>
          <a:xfrm>
            <a:off x="3291840" y="4023360"/>
            <a:ext cx="2651760" cy="594360"/>
          </a:xfrm>
          <a:prstGeom prst="rect">
            <a:avLst/>
          </a:prstGeom>
          <a:noFill/>
          <a:ln/>
        </p:spPr>
        <p:txBody>
          <a:bodyPr wrap="square" lIns="0" tIns="0" rIns="0" bIns="0" rtlCol="0" anchor="ctr"/>
          <a:lstStyle/>
          <a:p>
            <a:pPr algn="ctr" indent="0" marL="0">
              <a:buNone/>
            </a:pPr>
            <a:r>
              <a:rPr lang="en-US" sz="1400" b="1" dirty="0">
                <a:solidFill>
                  <a:schemeClr val="accent1"/>
                </a:solidFill>
              </a:rPr>
              <a:t>Edge </a:t>
            </a:r>
            <a:pPr algn="ctr" indent="0" marL="0">
              <a:buNone/>
            </a:pPr>
            <a:r>
              <a:rPr lang="en-US" sz="1400" dirty="0">
                <a:solidFill>
                  <a:schemeClr val="tx1"/>
                </a:solidFill>
              </a:rPr>
              <a:t>= road or link</a:t>
            </a:r>
            <a:endParaRPr lang="en-US" sz="1400" dirty="0"/>
          </a:p>
        </p:txBody>
      </p:sp>
      <p:sp>
        <p:nvSpPr>
          <p:cNvPr id="21" name="Text 16"/>
          <p:cNvSpPr txBox="1"/>
          <p:nvPr/>
        </p:nvSpPr>
        <p:spPr>
          <a:xfrm>
            <a:off x="6035040" y="4023360"/>
            <a:ext cx="2651760" cy="594360"/>
          </a:xfrm>
          <a:prstGeom prst="rect">
            <a:avLst/>
          </a:prstGeom>
          <a:noFill/>
          <a:ln/>
        </p:spPr>
        <p:txBody>
          <a:bodyPr wrap="square" lIns="0" tIns="0" rIns="0" bIns="0" rtlCol="0" anchor="ctr"/>
          <a:lstStyle/>
          <a:p>
            <a:pPr algn="ctr" indent="0" marL="0">
              <a:buNone/>
            </a:pPr>
            <a:r>
              <a:rPr lang="en-US" sz="1400" b="1" dirty="0">
                <a:solidFill>
                  <a:schemeClr val="accent1"/>
                </a:solidFill>
              </a:rPr>
              <a:t>Weight </a:t>
            </a:r>
            <a:pPr algn="ctr" indent="0" marL="0">
              <a:buNone/>
            </a:pPr>
            <a:r>
              <a:rPr lang="en-US" sz="1400" dirty="0">
                <a:solidFill>
                  <a:schemeClr val="tx1"/>
                </a:solidFill>
              </a:rPr>
              <a:t>= distance / time</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Working Principle</a:t>
            </a:r>
            <a:endParaRPr lang="en-US" sz="3000" dirty="0"/>
          </a:p>
        </p:txBody>
      </p:sp>
      <p:sp>
        <p:nvSpPr>
          <p:cNvPr id="3" name="Graph card"/>
          <p:cNvSpPr/>
          <p:nvPr/>
        </p:nvSpPr>
        <p:spPr>
          <a:xfrm>
            <a:off x="365760" y="1097280"/>
            <a:ext cx="4754880" cy="3383280"/>
          </a:xfrm>
          <a:prstGeom prst="roundRect">
            <a:avLst>
              <a:gd name="adj" fmla="val 2703"/>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4" name="Shape 2"/>
          <p:cNvSpPr/>
          <p:nvPr/>
        </p:nvSpPr>
        <p:spPr>
          <a:xfrm flipV="1">
            <a:off x="800100" y="1691640"/>
            <a:ext cx="1321308" cy="932688"/>
          </a:xfrm>
          <a:prstGeom prst="line">
            <a:avLst/>
          </a:prstGeom>
          <a:noFill/>
          <a:ln w="25400">
            <a:solidFill>
              <a:schemeClr val="accent4"/>
            </a:solidFill>
            <a:prstDash val="solid"/>
          </a:ln>
        </p:spPr>
      </p:sp>
      <p:sp>
        <p:nvSpPr>
          <p:cNvPr id="5" name="Shape 3"/>
          <p:cNvSpPr/>
          <p:nvPr/>
        </p:nvSpPr>
        <p:spPr>
          <a:xfrm>
            <a:off x="800100" y="2624328"/>
            <a:ext cx="1321308" cy="932688"/>
          </a:xfrm>
          <a:prstGeom prst="line">
            <a:avLst/>
          </a:prstGeom>
          <a:noFill/>
          <a:ln w="25400">
            <a:solidFill>
              <a:schemeClr val="accent4"/>
            </a:solidFill>
            <a:prstDash val="solid"/>
          </a:ln>
        </p:spPr>
      </p:sp>
      <p:sp>
        <p:nvSpPr>
          <p:cNvPr id="6" name="Shape 4"/>
          <p:cNvSpPr/>
          <p:nvPr/>
        </p:nvSpPr>
        <p:spPr>
          <a:xfrm>
            <a:off x="2121408" y="1691640"/>
            <a:ext cx="0" cy="1865376"/>
          </a:xfrm>
          <a:prstGeom prst="line">
            <a:avLst/>
          </a:prstGeom>
          <a:noFill/>
          <a:ln w="25400">
            <a:solidFill>
              <a:schemeClr val="accent4"/>
            </a:solidFill>
            <a:prstDash val="solid"/>
          </a:ln>
        </p:spPr>
      </p:sp>
      <p:sp>
        <p:nvSpPr>
          <p:cNvPr id="7" name="Shape 5"/>
          <p:cNvSpPr/>
          <p:nvPr/>
        </p:nvSpPr>
        <p:spPr>
          <a:xfrm>
            <a:off x="2121408" y="1691640"/>
            <a:ext cx="1321308" cy="932688"/>
          </a:xfrm>
          <a:prstGeom prst="line">
            <a:avLst/>
          </a:prstGeom>
          <a:noFill/>
          <a:ln w="25400">
            <a:solidFill>
              <a:schemeClr val="accent4"/>
            </a:solidFill>
            <a:prstDash val="solid"/>
          </a:ln>
        </p:spPr>
      </p:sp>
      <p:sp>
        <p:nvSpPr>
          <p:cNvPr id="8" name="Shape 6"/>
          <p:cNvSpPr/>
          <p:nvPr/>
        </p:nvSpPr>
        <p:spPr>
          <a:xfrm flipV="1">
            <a:off x="2121408" y="2624328"/>
            <a:ext cx="1321308" cy="932688"/>
          </a:xfrm>
          <a:prstGeom prst="line">
            <a:avLst/>
          </a:prstGeom>
          <a:noFill/>
          <a:ln w="25400">
            <a:solidFill>
              <a:schemeClr val="accent4"/>
            </a:solidFill>
            <a:prstDash val="solid"/>
          </a:ln>
        </p:spPr>
      </p:sp>
      <p:sp>
        <p:nvSpPr>
          <p:cNvPr id="9" name="Shape 7"/>
          <p:cNvSpPr/>
          <p:nvPr/>
        </p:nvSpPr>
        <p:spPr>
          <a:xfrm flipV="1">
            <a:off x="2121408" y="2624328"/>
            <a:ext cx="2564892" cy="932688"/>
          </a:xfrm>
          <a:prstGeom prst="line">
            <a:avLst/>
          </a:prstGeom>
          <a:noFill/>
          <a:ln w="25400">
            <a:solidFill>
              <a:schemeClr val="accent4"/>
            </a:solidFill>
            <a:prstDash val="solid"/>
          </a:ln>
        </p:spPr>
      </p:sp>
      <p:sp>
        <p:nvSpPr>
          <p:cNvPr id="10" name="Shape 8"/>
          <p:cNvSpPr/>
          <p:nvPr/>
        </p:nvSpPr>
        <p:spPr>
          <a:xfrm>
            <a:off x="3442716" y="2624328"/>
            <a:ext cx="1243584" cy="0"/>
          </a:xfrm>
          <a:prstGeom prst="line">
            <a:avLst/>
          </a:prstGeom>
          <a:noFill/>
          <a:ln w="25400">
            <a:solidFill>
              <a:schemeClr val="accent4"/>
            </a:solidFill>
            <a:prstDash val="solid"/>
          </a:ln>
        </p:spPr>
      </p:sp>
      <p:sp>
        <p:nvSpPr>
          <p:cNvPr id="11" name="Text 9"/>
          <p:cNvSpPr txBox="1"/>
          <p:nvPr/>
        </p:nvSpPr>
        <p:spPr>
          <a:xfrm>
            <a:off x="1314450" y="2048256"/>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12" name="Text 10"/>
          <p:cNvSpPr txBox="1"/>
          <p:nvPr/>
        </p:nvSpPr>
        <p:spPr>
          <a:xfrm>
            <a:off x="1314450" y="2980944"/>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3" name="Text 11"/>
          <p:cNvSpPr txBox="1"/>
          <p:nvPr/>
        </p:nvSpPr>
        <p:spPr>
          <a:xfrm>
            <a:off x="1975104" y="2514600"/>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14" name="Text 12"/>
          <p:cNvSpPr txBox="1"/>
          <p:nvPr/>
        </p:nvSpPr>
        <p:spPr>
          <a:xfrm>
            <a:off x="2635758" y="2048256"/>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15" name="Text 13"/>
          <p:cNvSpPr txBox="1"/>
          <p:nvPr/>
        </p:nvSpPr>
        <p:spPr>
          <a:xfrm>
            <a:off x="2635758" y="2980944"/>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100" b="1" dirty="0">
                <a:solidFill>
                  <a:schemeClr val="tx1"/>
                </a:solidFill>
              </a:rPr>
              <a:t>8</a:t>
            </a:r>
            <a:endParaRPr lang="en-US" sz="1100" dirty="0"/>
          </a:p>
        </p:txBody>
      </p:sp>
      <p:sp>
        <p:nvSpPr>
          <p:cNvPr id="16" name="Text 14"/>
          <p:cNvSpPr txBox="1"/>
          <p:nvPr/>
        </p:nvSpPr>
        <p:spPr>
          <a:xfrm>
            <a:off x="3257550" y="2980944"/>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100" b="1" dirty="0">
                <a:solidFill>
                  <a:schemeClr val="tx1"/>
                </a:solidFill>
              </a:rPr>
              <a:t>10</a:t>
            </a:r>
            <a:endParaRPr lang="en-US" sz="1100" dirty="0"/>
          </a:p>
        </p:txBody>
      </p:sp>
      <p:sp>
        <p:nvSpPr>
          <p:cNvPr id="17" name="Text 15"/>
          <p:cNvSpPr txBox="1"/>
          <p:nvPr/>
        </p:nvSpPr>
        <p:spPr>
          <a:xfrm>
            <a:off x="3918204" y="2514600"/>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8" name="Node A"/>
          <p:cNvSpPr txBox="1"/>
          <p:nvPr/>
        </p:nvSpPr>
        <p:spPr>
          <a:xfrm>
            <a:off x="544068" y="2368296"/>
            <a:ext cx="512064" cy="512064"/>
          </a:xfrm>
          <a:prstGeom prst="ellipse">
            <a:avLst/>
          </a:prstGeom>
          <a:solidFill>
            <a:schemeClr val="accent2"/>
          </a:solidFill>
          <a:ln w="25400">
            <a:solidFill>
              <a:schemeClr val="bg1"/>
            </a:solid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9" name="Node B"/>
          <p:cNvSpPr txBox="1"/>
          <p:nvPr/>
        </p:nvSpPr>
        <p:spPr>
          <a:xfrm>
            <a:off x="1865376" y="1435608"/>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20" name="Node C"/>
          <p:cNvSpPr txBox="1"/>
          <p:nvPr/>
        </p:nvSpPr>
        <p:spPr>
          <a:xfrm>
            <a:off x="1865376" y="3300984"/>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21" name="Node D"/>
          <p:cNvSpPr txBox="1"/>
          <p:nvPr/>
        </p:nvSpPr>
        <p:spPr>
          <a:xfrm>
            <a:off x="3186684" y="2368296"/>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22" name="Node E"/>
          <p:cNvSpPr txBox="1"/>
          <p:nvPr/>
        </p:nvSpPr>
        <p:spPr>
          <a:xfrm>
            <a:off x="4430268" y="2368296"/>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23" name="Distance A"/>
          <p:cNvSpPr txBox="1"/>
          <p:nvPr/>
        </p:nvSpPr>
        <p:spPr>
          <a:xfrm>
            <a:off x="461772" y="2057400"/>
            <a:ext cx="493776" cy="237744"/>
          </a:xfrm>
          <a:prstGeom prst="roundRect">
            <a:avLst>
              <a:gd name="adj" fmla="val 30769"/>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0</a:t>
            </a:r>
            <a:endParaRPr lang="en-US" sz="1200" dirty="0"/>
          </a:p>
        </p:txBody>
      </p:sp>
      <p:sp>
        <p:nvSpPr>
          <p:cNvPr id="24" name="Distance B"/>
          <p:cNvSpPr txBox="1"/>
          <p:nvPr/>
        </p:nvSpPr>
        <p:spPr>
          <a:xfrm>
            <a:off x="1874520" y="1124712"/>
            <a:ext cx="493776" cy="237744"/>
          </a:xfrm>
          <a:prstGeom prst="roundRect">
            <a:avLst>
              <a:gd name="adj" fmla="val 30769"/>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5" name="Distance C"/>
          <p:cNvSpPr txBox="1"/>
          <p:nvPr/>
        </p:nvSpPr>
        <p:spPr>
          <a:xfrm>
            <a:off x="1874520" y="3904488"/>
            <a:ext cx="493776" cy="237744"/>
          </a:xfrm>
          <a:prstGeom prst="roundRect">
            <a:avLst>
              <a:gd name="adj" fmla="val 30769"/>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6" name="Distance D"/>
          <p:cNvSpPr txBox="1"/>
          <p:nvPr/>
        </p:nvSpPr>
        <p:spPr>
          <a:xfrm>
            <a:off x="3195828" y="2057400"/>
            <a:ext cx="493776" cy="237744"/>
          </a:xfrm>
          <a:prstGeom prst="roundRect">
            <a:avLst>
              <a:gd name="adj" fmla="val 30769"/>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7" name="Distance E"/>
          <p:cNvSpPr txBox="1"/>
          <p:nvPr/>
        </p:nvSpPr>
        <p:spPr>
          <a:xfrm>
            <a:off x="4439412" y="2057400"/>
            <a:ext cx="493776" cy="237744"/>
          </a:xfrm>
          <a:prstGeom prst="roundRect">
            <a:avLst>
              <a:gd name="adj" fmla="val 30769"/>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8" name="Text 26"/>
          <p:cNvSpPr txBox="1"/>
          <p:nvPr/>
        </p:nvSpPr>
        <p:spPr>
          <a:xfrm>
            <a:off x="548640" y="4206240"/>
            <a:ext cx="4389120" cy="237744"/>
          </a:xfrm>
          <a:prstGeom prst="rect">
            <a:avLst/>
          </a:prstGeom>
          <a:noFill/>
          <a:ln/>
        </p:spPr>
        <p:txBody>
          <a:bodyPr wrap="square" lIns="0" tIns="0" rIns="0" bIns="0" rtlCol="0" anchor="ctr"/>
          <a:lstStyle/>
          <a:p>
            <a:pPr algn="ctr" indent="0" marL="0">
              <a:buNone/>
            </a:pPr>
            <a:r>
              <a:rPr lang="en-US" sz="1200" i="1" dirty="0">
                <a:solidFill>
                  <a:schemeClr val="accent4"/>
                </a:solidFill>
              </a:rPr>
              <a:t>Start state: source A = 0, every other vertex = ∞</a:t>
            </a:r>
            <a:endParaRPr lang="en-US" sz="1200" dirty="0"/>
          </a:p>
        </p:txBody>
      </p:sp>
      <p:sp>
        <p:nvSpPr>
          <p:cNvPr id="29" name="Text 27"/>
          <p:cNvSpPr txBox="1"/>
          <p:nvPr/>
        </p:nvSpPr>
        <p:spPr>
          <a:xfrm>
            <a:off x="5394960" y="1152144"/>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30" name="Text 28"/>
          <p:cNvSpPr txBox="1"/>
          <p:nvPr/>
        </p:nvSpPr>
        <p:spPr>
          <a:xfrm>
            <a:off x="5897880" y="1097280"/>
            <a:ext cx="2880360" cy="512064"/>
          </a:xfrm>
          <a:prstGeom prst="rect">
            <a:avLst/>
          </a:prstGeom>
          <a:noFill/>
          <a:ln/>
        </p:spPr>
        <p:txBody>
          <a:bodyPr wrap="square" lIns="0" tIns="0" rIns="0" bIns="0" rtlCol="0" anchor="ctr"/>
          <a:lstStyle/>
          <a:p>
            <a:pPr indent="0" marL="0">
              <a:buNone/>
            </a:pPr>
            <a:r>
              <a:rPr lang="en-US" sz="1400" dirty="0">
                <a:solidFill>
                  <a:schemeClr val="tx1"/>
                </a:solidFill>
              </a:rPr>
              <a:t>Initialise: source = 0, all others = ∞</a:t>
            </a:r>
            <a:endParaRPr lang="en-US" sz="1400" dirty="0"/>
          </a:p>
        </p:txBody>
      </p:sp>
      <p:sp>
        <p:nvSpPr>
          <p:cNvPr id="31" name="Text 29"/>
          <p:cNvSpPr txBox="1"/>
          <p:nvPr/>
        </p:nvSpPr>
        <p:spPr>
          <a:xfrm>
            <a:off x="5394960" y="1773936"/>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32" name="Text 30"/>
          <p:cNvSpPr txBox="1"/>
          <p:nvPr/>
        </p:nvSpPr>
        <p:spPr>
          <a:xfrm>
            <a:off x="5897880" y="1719072"/>
            <a:ext cx="2880360" cy="512064"/>
          </a:xfrm>
          <a:prstGeom prst="rect">
            <a:avLst/>
          </a:prstGeom>
          <a:noFill/>
          <a:ln/>
        </p:spPr>
        <p:txBody>
          <a:bodyPr wrap="square" lIns="0" tIns="0" rIns="0" bIns="0" rtlCol="0" anchor="ctr"/>
          <a:lstStyle/>
          <a:p>
            <a:pPr indent="0" marL="0">
              <a:buNone/>
            </a:pPr>
            <a:r>
              <a:rPr lang="en-US" sz="1400" dirty="0">
                <a:solidFill>
                  <a:schemeClr val="tx1"/>
                </a:solidFill>
              </a:rPr>
              <a:t>Select the unvisited vertex with the smallest distance</a:t>
            </a:r>
            <a:endParaRPr lang="en-US" sz="1400" dirty="0"/>
          </a:p>
        </p:txBody>
      </p:sp>
      <p:sp>
        <p:nvSpPr>
          <p:cNvPr id="33" name="Text 31"/>
          <p:cNvSpPr txBox="1"/>
          <p:nvPr/>
        </p:nvSpPr>
        <p:spPr>
          <a:xfrm>
            <a:off x="5394960" y="2395728"/>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4" name="Text 32"/>
          <p:cNvSpPr txBox="1"/>
          <p:nvPr/>
        </p:nvSpPr>
        <p:spPr>
          <a:xfrm>
            <a:off x="5897880" y="2340864"/>
            <a:ext cx="2880360" cy="512064"/>
          </a:xfrm>
          <a:prstGeom prst="rect">
            <a:avLst/>
          </a:prstGeom>
          <a:noFill/>
          <a:ln/>
        </p:spPr>
        <p:txBody>
          <a:bodyPr wrap="square" lIns="0" tIns="0" rIns="0" bIns="0" rtlCol="0" anchor="ctr"/>
          <a:lstStyle/>
          <a:p>
            <a:pPr indent="0" marL="0">
              <a:buNone/>
            </a:pPr>
            <a:r>
              <a:rPr lang="en-US" sz="1400" dirty="0">
                <a:solidFill>
                  <a:schemeClr val="tx1"/>
                </a:solidFill>
              </a:rPr>
              <a:t>Relax its edges: if d[u] + w &lt; d[v], update d[v]</a:t>
            </a:r>
            <a:endParaRPr lang="en-US" sz="1400" dirty="0"/>
          </a:p>
        </p:txBody>
      </p:sp>
      <p:sp>
        <p:nvSpPr>
          <p:cNvPr id="35" name="Text 33"/>
          <p:cNvSpPr txBox="1"/>
          <p:nvPr/>
        </p:nvSpPr>
        <p:spPr>
          <a:xfrm>
            <a:off x="5394960" y="3017520"/>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36" name="Text 34"/>
          <p:cNvSpPr txBox="1"/>
          <p:nvPr/>
        </p:nvSpPr>
        <p:spPr>
          <a:xfrm>
            <a:off x="5897880" y="2962656"/>
            <a:ext cx="2880360" cy="512064"/>
          </a:xfrm>
          <a:prstGeom prst="rect">
            <a:avLst/>
          </a:prstGeom>
          <a:noFill/>
          <a:ln/>
        </p:spPr>
        <p:txBody>
          <a:bodyPr wrap="square" lIns="0" tIns="0" rIns="0" bIns="0" rtlCol="0" anchor="ctr"/>
          <a:lstStyle/>
          <a:p>
            <a:pPr indent="0" marL="0">
              <a:buNone/>
            </a:pPr>
            <a:r>
              <a:rPr lang="en-US" sz="1400" dirty="0">
                <a:solidFill>
                  <a:schemeClr val="tx1"/>
                </a:solidFill>
              </a:rPr>
              <a:t>Mark it visited; repeat until all are visited</a:t>
            </a:r>
            <a:endParaRPr lang="en-US" sz="1400" dirty="0"/>
          </a:p>
        </p:txBody>
      </p:sp>
      <p:sp>
        <p:nvSpPr>
          <p:cNvPr id="37" name="Relaxation card"/>
          <p:cNvSpPr/>
          <p:nvPr/>
        </p:nvSpPr>
        <p:spPr>
          <a:xfrm>
            <a:off x="5394960" y="3611880"/>
            <a:ext cx="3383280" cy="868680"/>
          </a:xfrm>
          <a:prstGeom prst="roundRect">
            <a:avLst>
              <a:gd name="adj" fmla="val 10526"/>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38" name="Shape 36"/>
          <p:cNvSpPr/>
          <p:nvPr/>
        </p:nvSpPr>
        <p:spPr>
          <a:xfrm>
            <a:off x="5943600" y="3931920"/>
            <a:ext cx="731520" cy="0"/>
          </a:xfrm>
          <a:prstGeom prst="line">
            <a:avLst/>
          </a:prstGeom>
          <a:noFill/>
          <a:ln w="38100">
            <a:solidFill>
              <a:schemeClr val="accent2"/>
            </a:solidFill>
            <a:prstDash val="solid"/>
          </a:ln>
        </p:spPr>
      </p:sp>
      <p:sp>
        <p:nvSpPr>
          <p:cNvPr id="39" name="Text 37"/>
          <p:cNvSpPr txBox="1"/>
          <p:nvPr/>
        </p:nvSpPr>
        <p:spPr>
          <a:xfrm>
            <a:off x="5623560" y="3749040"/>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300" b="1" dirty="0">
                <a:solidFill>
                  <a:schemeClr val="bg1"/>
                </a:solidFill>
              </a:rPr>
              <a:t>u</a:t>
            </a:r>
            <a:endParaRPr lang="en-US" sz="1300" dirty="0"/>
          </a:p>
        </p:txBody>
      </p:sp>
      <p:sp>
        <p:nvSpPr>
          <p:cNvPr id="40" name="Text 38"/>
          <p:cNvSpPr txBox="1"/>
          <p:nvPr/>
        </p:nvSpPr>
        <p:spPr>
          <a:xfrm>
            <a:off x="6629400" y="3749040"/>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300" b="1" dirty="0">
                <a:solidFill>
                  <a:schemeClr val="bg1"/>
                </a:solidFill>
              </a:rPr>
              <a:t>v</a:t>
            </a:r>
            <a:endParaRPr lang="en-US" sz="1300" dirty="0"/>
          </a:p>
        </p:txBody>
      </p:sp>
      <p:sp>
        <p:nvSpPr>
          <p:cNvPr id="41" name="Text 39"/>
          <p:cNvSpPr txBox="1"/>
          <p:nvPr/>
        </p:nvSpPr>
        <p:spPr>
          <a:xfrm>
            <a:off x="6126480" y="3822192"/>
            <a:ext cx="237744" cy="201168"/>
          </a:xfrm>
          <a:prstGeom prst="roundRect">
            <a:avLst>
              <a:gd name="adj" fmla="val 27273"/>
            </a:avLst>
          </a:prstGeom>
          <a:solidFill>
            <a:schemeClr val="bg1"/>
          </a:solidFill>
          <a:ln w="12700">
            <a:solidFill>
              <a:schemeClr val="accent2"/>
            </a:solid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42" name="Text 40"/>
          <p:cNvSpPr txBox="1"/>
          <p:nvPr/>
        </p:nvSpPr>
        <p:spPr>
          <a:xfrm>
            <a:off x="5532120" y="4160520"/>
            <a:ext cx="548640" cy="201168"/>
          </a:xfrm>
          <a:prstGeom prst="rect">
            <a:avLst/>
          </a:prstGeom>
          <a:noFill/>
          <a:ln/>
        </p:spPr>
        <p:txBody>
          <a:bodyPr wrap="square" lIns="0" tIns="0" rIns="0" bIns="0" rtlCol="0" anchor="ctr"/>
          <a:lstStyle/>
          <a:p>
            <a:pPr algn="ctr" indent="0" marL="0">
              <a:buNone/>
            </a:pPr>
            <a:r>
              <a:rPr lang="en-US" sz="1100" dirty="0">
                <a:solidFill>
                  <a:schemeClr val="accent4"/>
                </a:solidFill>
              </a:rPr>
              <a:t>d = 2</a:t>
            </a:r>
            <a:endParaRPr lang="en-US" sz="1100" dirty="0"/>
          </a:p>
        </p:txBody>
      </p:sp>
      <p:sp>
        <p:nvSpPr>
          <p:cNvPr id="43" name="Text 41"/>
          <p:cNvSpPr txBox="1"/>
          <p:nvPr/>
        </p:nvSpPr>
        <p:spPr>
          <a:xfrm>
            <a:off x="6400800" y="4160520"/>
            <a:ext cx="822960" cy="201168"/>
          </a:xfrm>
          <a:prstGeom prst="rect">
            <a:avLst/>
          </a:prstGeom>
          <a:noFill/>
          <a:ln/>
        </p:spPr>
        <p:txBody>
          <a:bodyPr wrap="square" lIns="0" tIns="0" rIns="0" bIns="0" rtlCol="0" anchor="ctr"/>
          <a:lstStyle/>
          <a:p>
            <a:pPr algn="ctr" indent="0" marL="0">
              <a:buNone/>
            </a:pPr>
            <a:r>
              <a:rPr lang="en-US" sz="1100" dirty="0">
                <a:solidFill>
                  <a:schemeClr val="accent4"/>
                </a:solidFill>
              </a:rPr>
              <a:t>d = 4 → 3</a:t>
            </a:r>
            <a:endParaRPr lang="en-US" sz="1100" dirty="0"/>
          </a:p>
        </p:txBody>
      </p:sp>
      <p:sp>
        <p:nvSpPr>
          <p:cNvPr id="44" name="Text 42"/>
          <p:cNvSpPr txBox="1"/>
          <p:nvPr/>
        </p:nvSpPr>
        <p:spPr>
          <a:xfrm>
            <a:off x="7315200" y="3657600"/>
            <a:ext cx="1417320" cy="777240"/>
          </a:xfrm>
          <a:prstGeom prst="rect">
            <a:avLst/>
          </a:prstGeom>
          <a:noFill/>
          <a:ln/>
        </p:spPr>
        <p:txBody>
          <a:bodyPr wrap="square" lIns="0" tIns="0" rIns="0" bIns="0" rtlCol="0" anchor="ctr"/>
          <a:lstStyle/>
          <a:p>
            <a:pPr indent="0" marL="0">
              <a:buNone/>
            </a:pPr>
            <a:r>
              <a:rPr lang="en-US" sz="1300" b="1" dirty="0">
                <a:solidFill>
                  <a:schemeClr val="accent1"/>
                </a:solidFill>
              </a:rPr>
              <a:t>Relaxation</a:t>
            </a:r>
            <a:endParaRPr lang="en-US" sz="1300" dirty="0"/>
          </a:p>
          <a:p>
            <a:pPr indent="0" marL="0">
              <a:buNone/>
            </a:pPr>
            <a:r>
              <a:rPr lang="en-US" sz="1300" dirty="0">
                <a:solidFill>
                  <a:schemeClr val="tx1"/>
                </a:solidFill>
              </a:rPr>
              <a:t>2 + 1 = 3 &lt; 4</a:t>
            </a:r>
            <a:endParaRPr lang="en-US" sz="1300" dirty="0"/>
          </a:p>
          <a:p>
            <a:pPr indent="0" marL="0">
              <a:buNone/>
            </a:pPr>
            <a:r>
              <a:rPr lang="en-US" sz="1300" dirty="0">
                <a:solidFill>
                  <a:schemeClr val="tx1"/>
                </a:solidFill>
              </a:rPr>
              <a:t>so d[v] becomes 3</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Step-by-Step Example</a:t>
            </a:r>
            <a:endParaRPr lang="en-US" sz="3000" dirty="0"/>
          </a:p>
        </p:txBody>
      </p:sp>
      <p:sp>
        <p:nvSpPr>
          <p:cNvPr id="3" name="Graph card"/>
          <p:cNvSpPr/>
          <p:nvPr/>
        </p:nvSpPr>
        <p:spPr>
          <a:xfrm>
            <a:off x="365760" y="1097280"/>
            <a:ext cx="4480560" cy="2880360"/>
          </a:xfrm>
          <a:prstGeom prst="roundRect">
            <a:avLst>
              <a:gd name="adj" fmla="val 3175"/>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4" name="Shape 2"/>
          <p:cNvSpPr/>
          <p:nvPr/>
        </p:nvSpPr>
        <p:spPr>
          <a:xfrm flipV="1">
            <a:off x="896112" y="1783080"/>
            <a:ext cx="1165860" cy="822960"/>
          </a:xfrm>
          <a:prstGeom prst="line">
            <a:avLst/>
          </a:prstGeom>
          <a:noFill/>
          <a:ln w="25400">
            <a:solidFill>
              <a:schemeClr val="accent4"/>
            </a:solidFill>
            <a:prstDash val="solid"/>
          </a:ln>
        </p:spPr>
      </p:sp>
      <p:sp>
        <p:nvSpPr>
          <p:cNvPr id="5" name="Shape 3"/>
          <p:cNvSpPr/>
          <p:nvPr/>
        </p:nvSpPr>
        <p:spPr>
          <a:xfrm>
            <a:off x="896112" y="2606040"/>
            <a:ext cx="1165860" cy="822960"/>
          </a:xfrm>
          <a:prstGeom prst="line">
            <a:avLst/>
          </a:prstGeom>
          <a:noFill/>
          <a:ln w="63500">
            <a:solidFill>
              <a:schemeClr val="accent2"/>
            </a:solidFill>
            <a:prstDash val="solid"/>
          </a:ln>
        </p:spPr>
      </p:sp>
      <p:sp>
        <p:nvSpPr>
          <p:cNvPr id="6" name="Shape 4"/>
          <p:cNvSpPr/>
          <p:nvPr/>
        </p:nvSpPr>
        <p:spPr>
          <a:xfrm>
            <a:off x="2061972" y="1783080"/>
            <a:ext cx="0" cy="1645920"/>
          </a:xfrm>
          <a:prstGeom prst="line">
            <a:avLst/>
          </a:prstGeom>
          <a:noFill/>
          <a:ln w="63500">
            <a:solidFill>
              <a:schemeClr val="accent2"/>
            </a:solidFill>
            <a:prstDash val="solid"/>
          </a:ln>
        </p:spPr>
      </p:sp>
      <p:sp>
        <p:nvSpPr>
          <p:cNvPr id="7" name="Shape 5"/>
          <p:cNvSpPr/>
          <p:nvPr/>
        </p:nvSpPr>
        <p:spPr>
          <a:xfrm>
            <a:off x="2061972" y="1783080"/>
            <a:ext cx="1165860" cy="822960"/>
          </a:xfrm>
          <a:prstGeom prst="line">
            <a:avLst/>
          </a:prstGeom>
          <a:noFill/>
          <a:ln w="63500">
            <a:solidFill>
              <a:schemeClr val="accent2"/>
            </a:solidFill>
            <a:prstDash val="solid"/>
          </a:ln>
        </p:spPr>
      </p:sp>
      <p:sp>
        <p:nvSpPr>
          <p:cNvPr id="8" name="Shape 6"/>
          <p:cNvSpPr/>
          <p:nvPr/>
        </p:nvSpPr>
        <p:spPr>
          <a:xfrm flipV="1">
            <a:off x="2061972" y="2606040"/>
            <a:ext cx="1165860" cy="822960"/>
          </a:xfrm>
          <a:prstGeom prst="line">
            <a:avLst/>
          </a:prstGeom>
          <a:noFill/>
          <a:ln w="25400">
            <a:solidFill>
              <a:schemeClr val="accent4"/>
            </a:solidFill>
            <a:prstDash val="solid"/>
          </a:ln>
        </p:spPr>
      </p:sp>
      <p:sp>
        <p:nvSpPr>
          <p:cNvPr id="9" name="Shape 7"/>
          <p:cNvSpPr/>
          <p:nvPr/>
        </p:nvSpPr>
        <p:spPr>
          <a:xfrm flipV="1">
            <a:off x="2061972" y="2606040"/>
            <a:ext cx="2263140" cy="822960"/>
          </a:xfrm>
          <a:prstGeom prst="line">
            <a:avLst/>
          </a:prstGeom>
          <a:noFill/>
          <a:ln w="25400">
            <a:solidFill>
              <a:schemeClr val="accent4"/>
            </a:solidFill>
            <a:prstDash val="solid"/>
          </a:ln>
        </p:spPr>
      </p:sp>
      <p:sp>
        <p:nvSpPr>
          <p:cNvPr id="10" name="Shape 8"/>
          <p:cNvSpPr/>
          <p:nvPr/>
        </p:nvSpPr>
        <p:spPr>
          <a:xfrm>
            <a:off x="3227832" y="2606040"/>
            <a:ext cx="1097280" cy="0"/>
          </a:xfrm>
          <a:prstGeom prst="line">
            <a:avLst/>
          </a:prstGeom>
          <a:noFill/>
          <a:ln w="63500">
            <a:solidFill>
              <a:schemeClr val="accent2"/>
            </a:solidFill>
            <a:prstDash val="solid"/>
          </a:ln>
        </p:spPr>
      </p:sp>
      <p:sp>
        <p:nvSpPr>
          <p:cNvPr id="11" name="Text 9"/>
          <p:cNvSpPr txBox="1"/>
          <p:nvPr/>
        </p:nvSpPr>
        <p:spPr>
          <a:xfrm>
            <a:off x="1332738" y="2084832"/>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12" name="Text 10"/>
          <p:cNvSpPr txBox="1"/>
          <p:nvPr/>
        </p:nvSpPr>
        <p:spPr>
          <a:xfrm>
            <a:off x="1332738" y="2907792"/>
            <a:ext cx="292608" cy="219456"/>
          </a:xfrm>
          <a:prstGeom prst="roundRect">
            <a:avLst>
              <a:gd name="adj" fmla="val 33333"/>
            </a:avLst>
          </a:prstGeom>
          <a:solidFill>
            <a:schemeClr val="bg1"/>
          </a:solidFill>
          <a:ln w="12700">
            <a:solidFill>
              <a:schemeClr val="accent2"/>
            </a:solid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3" name="Text 11"/>
          <p:cNvSpPr txBox="1"/>
          <p:nvPr/>
        </p:nvSpPr>
        <p:spPr>
          <a:xfrm>
            <a:off x="1915668" y="2496312"/>
            <a:ext cx="292608" cy="219456"/>
          </a:xfrm>
          <a:prstGeom prst="roundRect">
            <a:avLst>
              <a:gd name="adj" fmla="val 33333"/>
            </a:avLst>
          </a:prstGeom>
          <a:solidFill>
            <a:schemeClr val="bg1"/>
          </a:solidFill>
          <a:ln w="12700">
            <a:solidFill>
              <a:schemeClr val="accent2"/>
            </a:solid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14" name="Text 12"/>
          <p:cNvSpPr txBox="1"/>
          <p:nvPr/>
        </p:nvSpPr>
        <p:spPr>
          <a:xfrm>
            <a:off x="2498598" y="2084832"/>
            <a:ext cx="292608" cy="219456"/>
          </a:xfrm>
          <a:prstGeom prst="roundRect">
            <a:avLst>
              <a:gd name="adj" fmla="val 33333"/>
            </a:avLst>
          </a:prstGeom>
          <a:solidFill>
            <a:schemeClr val="bg1"/>
          </a:solidFill>
          <a:ln w="12700">
            <a:solidFill>
              <a:schemeClr val="accent2"/>
            </a:solid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15" name="Text 13"/>
          <p:cNvSpPr txBox="1"/>
          <p:nvPr/>
        </p:nvSpPr>
        <p:spPr>
          <a:xfrm>
            <a:off x="2498598" y="2907792"/>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100" b="1" dirty="0">
                <a:solidFill>
                  <a:schemeClr val="tx1"/>
                </a:solidFill>
              </a:rPr>
              <a:t>8</a:t>
            </a:r>
            <a:endParaRPr lang="en-US" sz="1100" dirty="0"/>
          </a:p>
        </p:txBody>
      </p:sp>
      <p:sp>
        <p:nvSpPr>
          <p:cNvPr id="16" name="Text 14"/>
          <p:cNvSpPr txBox="1"/>
          <p:nvPr/>
        </p:nvSpPr>
        <p:spPr>
          <a:xfrm>
            <a:off x="3047238" y="2907792"/>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100" b="1" dirty="0">
                <a:solidFill>
                  <a:schemeClr val="tx1"/>
                </a:solidFill>
              </a:rPr>
              <a:t>10</a:t>
            </a:r>
            <a:endParaRPr lang="en-US" sz="1100" dirty="0"/>
          </a:p>
        </p:txBody>
      </p:sp>
      <p:sp>
        <p:nvSpPr>
          <p:cNvPr id="17" name="Text 15"/>
          <p:cNvSpPr txBox="1"/>
          <p:nvPr/>
        </p:nvSpPr>
        <p:spPr>
          <a:xfrm>
            <a:off x="3630168" y="2496312"/>
            <a:ext cx="292608" cy="219456"/>
          </a:xfrm>
          <a:prstGeom prst="roundRect">
            <a:avLst>
              <a:gd name="adj" fmla="val 33333"/>
            </a:avLst>
          </a:prstGeom>
          <a:solidFill>
            <a:schemeClr val="bg1"/>
          </a:solidFill>
          <a:ln w="12700">
            <a:solidFill>
              <a:schemeClr val="accent2"/>
            </a:solid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8" name="Node A"/>
          <p:cNvSpPr txBox="1"/>
          <p:nvPr/>
        </p:nvSpPr>
        <p:spPr>
          <a:xfrm>
            <a:off x="640080" y="2350008"/>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9" name="Node B"/>
          <p:cNvSpPr txBox="1"/>
          <p:nvPr/>
        </p:nvSpPr>
        <p:spPr>
          <a:xfrm>
            <a:off x="1805940" y="1527048"/>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20" name="Node C"/>
          <p:cNvSpPr txBox="1"/>
          <p:nvPr/>
        </p:nvSpPr>
        <p:spPr>
          <a:xfrm>
            <a:off x="1805940" y="3172968"/>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21" name="Node D"/>
          <p:cNvSpPr txBox="1"/>
          <p:nvPr/>
        </p:nvSpPr>
        <p:spPr>
          <a:xfrm>
            <a:off x="2971800" y="2350008"/>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22" name="Node E"/>
          <p:cNvSpPr txBox="1"/>
          <p:nvPr/>
        </p:nvSpPr>
        <p:spPr>
          <a:xfrm>
            <a:off x="4069080" y="2350008"/>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23" name="Distance A"/>
          <p:cNvSpPr txBox="1"/>
          <p:nvPr/>
        </p:nvSpPr>
        <p:spPr>
          <a:xfrm>
            <a:off x="557784" y="2039112"/>
            <a:ext cx="493776" cy="237744"/>
          </a:xfrm>
          <a:prstGeom prst="roundRect">
            <a:avLst>
              <a:gd name="adj" fmla="val 30769"/>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0</a:t>
            </a:r>
            <a:endParaRPr lang="en-US" sz="1200" dirty="0"/>
          </a:p>
        </p:txBody>
      </p:sp>
      <p:sp>
        <p:nvSpPr>
          <p:cNvPr id="24" name="Distance B"/>
          <p:cNvSpPr txBox="1"/>
          <p:nvPr/>
        </p:nvSpPr>
        <p:spPr>
          <a:xfrm>
            <a:off x="1815084" y="1216152"/>
            <a:ext cx="493776" cy="237744"/>
          </a:xfrm>
          <a:prstGeom prst="roundRect">
            <a:avLst>
              <a:gd name="adj" fmla="val 30769"/>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5" name="Distance C"/>
          <p:cNvSpPr txBox="1"/>
          <p:nvPr/>
        </p:nvSpPr>
        <p:spPr>
          <a:xfrm>
            <a:off x="1815084" y="3776472"/>
            <a:ext cx="493776" cy="237744"/>
          </a:xfrm>
          <a:prstGeom prst="roundRect">
            <a:avLst>
              <a:gd name="adj" fmla="val 30769"/>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6" name="Distance D"/>
          <p:cNvSpPr txBox="1"/>
          <p:nvPr/>
        </p:nvSpPr>
        <p:spPr>
          <a:xfrm>
            <a:off x="2980944" y="2039112"/>
            <a:ext cx="493776" cy="237744"/>
          </a:xfrm>
          <a:prstGeom prst="roundRect">
            <a:avLst>
              <a:gd name="adj" fmla="val 30769"/>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27" name="Distance E"/>
          <p:cNvSpPr txBox="1"/>
          <p:nvPr/>
        </p:nvSpPr>
        <p:spPr>
          <a:xfrm>
            <a:off x="4078224" y="2039112"/>
            <a:ext cx="493776" cy="237744"/>
          </a:xfrm>
          <a:prstGeom prst="roundRect">
            <a:avLst>
              <a:gd name="adj" fmla="val 30769"/>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10</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0" y="1097280"/>
          <a:ext cx="3749040" cy="914400"/>
        </p:xfrm>
        <a:graphic>
          <a:graphicData uri="http://schemas.openxmlformats.org/drawingml/2006/table">
            <a:tbl>
              <a:tblPr/>
              <a:tblGrid>
                <a:gridCol w="502920"/>
                <a:gridCol w="502920"/>
                <a:gridCol w="548640"/>
                <a:gridCol w="548640"/>
                <a:gridCol w="548640"/>
                <a:gridCol w="548640"/>
                <a:gridCol w="548640"/>
              </a:tblGrid>
              <a:tr h="292608">
                <a:tc>
                  <a:txBody>
                    <a:bodyPr/>
                    <a:lstStyle/>
                    <a:p>
                      <a:pPr algn="ctr" indent="0" marL="0">
                        <a:buNone/>
                      </a:pPr>
                      <a:r>
                        <a:rPr lang="en-US" sz="1200" b="1" dirty="0">
                          <a:solidFill>
                            <a:srgbClr val="FFFFFF"/>
                          </a:solidFill>
                        </a:rPr>
                        <a:t>Step</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rPr>
                        <a:t>Pick</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rPr>
                        <a:t>A</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rPr>
                        <a:t>B</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rPr>
                        <a:t>C</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rPr>
                        <a:t>D</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rPr>
                        <a:t>E</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B2545"/>
                    </a:solidFill>
                  </a:tcPr>
                </a:tc>
              </a:tr>
              <a:tr h="292608">
                <a:tc>
                  <a:txBody>
                    <a:bodyPr/>
                    <a:lstStyle/>
                    <a:p>
                      <a:pPr algn="ctr" indent="0" marL="0">
                        <a:buNone/>
                      </a:pPr>
                      <a:r>
                        <a:rPr lang="en-US" sz="1200" dirty="0">
                          <a:solidFill>
                            <a:srgbClr val="0B2545"/>
                          </a:solidFill>
                        </a:rPr>
                        <a:t>Init</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0</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r>
              <a:tr h="292608">
                <a:tc>
                  <a:txBody>
                    <a:bodyPr/>
                    <a:lstStyle/>
                    <a:p>
                      <a:pPr algn="ctr" indent="0" marL="0">
                        <a:buNone/>
                      </a:pPr>
                      <a:r>
                        <a:rPr lang="en-US" sz="1200" dirty="0">
                          <a:solidFill>
                            <a:srgbClr val="0B2545"/>
                          </a:solidFill>
                        </a:rPr>
                        <a:t>1</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A</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0</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0B2545"/>
                          </a:solidFill>
                        </a:rPr>
                        <a:t>4</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BD9BF"/>
                    </a:solidFill>
                  </a:tcPr>
                </a:tc>
                <a:tc>
                  <a:txBody>
                    <a:bodyPr/>
                    <a:lstStyle/>
                    <a:p>
                      <a:pPr algn="ctr" indent="0" marL="0">
                        <a:buNone/>
                      </a:pPr>
                      <a:r>
                        <a:rPr lang="en-US" sz="1200" b="1" dirty="0">
                          <a:solidFill>
                            <a:srgbClr val="0B2545"/>
                          </a:solidFill>
                        </a:rPr>
                        <a:t>2</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BD9BF"/>
                    </a:solidFill>
                  </a:tcPr>
                </a:tc>
                <a:tc>
                  <a:txBody>
                    <a:bodyPr/>
                    <a:lstStyle/>
                    <a:p>
                      <a:pPr algn="ctr" indent="0" marL="0">
                        <a:buNone/>
                      </a:pPr>
                      <a:r>
                        <a:rPr lang="en-US" sz="1200" dirty="0">
                          <a:solidFill>
                            <a:srgbClr val="0B2545"/>
                          </a:solidFill>
                        </a:rPr>
                        <a:t>∞</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r>
              <a:tr h="292608">
                <a:tc>
                  <a:txBody>
                    <a:bodyPr/>
                    <a:lstStyle/>
                    <a:p>
                      <a:pPr algn="ctr" indent="0" marL="0">
                        <a:buNone/>
                      </a:pPr>
                      <a:r>
                        <a:rPr lang="en-US" sz="1200" dirty="0">
                          <a:solidFill>
                            <a:srgbClr val="0B2545"/>
                          </a:solidFill>
                        </a:rPr>
                        <a:t>2</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C</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0</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CFE8EA"/>
                    </a:solidFill>
                  </a:tcPr>
                </a:tc>
                <a:tc>
                  <a:txBody>
                    <a:bodyPr/>
                    <a:lstStyle/>
                    <a:p>
                      <a:pPr algn="ctr" indent="0" marL="0">
                        <a:buNone/>
                      </a:pPr>
                      <a:r>
                        <a:rPr lang="en-US" sz="1200" b="1" dirty="0">
                          <a:solidFill>
                            <a:srgbClr val="0B2545"/>
                          </a:solidFill>
                        </a:rPr>
                        <a:t>3</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BD9BF"/>
                    </a:solidFill>
                  </a:tcPr>
                </a:tc>
                <a:tc>
                  <a:txBody>
                    <a:bodyPr/>
                    <a:lstStyle/>
                    <a:p>
                      <a:pPr algn="ctr" indent="0" marL="0">
                        <a:buNone/>
                      </a:pPr>
                      <a:r>
                        <a:rPr lang="en-US" sz="1200" b="1" dirty="0">
                          <a:solidFill>
                            <a:srgbClr val="FFFFFF"/>
                          </a:solidFill>
                        </a:rPr>
                        <a:t>2</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0B2545"/>
                          </a:solidFill>
                        </a:rPr>
                        <a:t>10</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BD9BF"/>
                    </a:solidFill>
                  </a:tcPr>
                </a:tc>
                <a:tc>
                  <a:txBody>
                    <a:bodyPr/>
                    <a:lstStyle/>
                    <a:p>
                      <a:pPr algn="ctr" indent="0" marL="0">
                        <a:buNone/>
                      </a:pPr>
                      <a:r>
                        <a:rPr lang="en-US" sz="1200" b="1" dirty="0">
                          <a:solidFill>
                            <a:srgbClr val="0B2545"/>
                          </a:solidFill>
                        </a:rPr>
                        <a:t>12</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BD9BF"/>
                    </a:solidFill>
                  </a:tcPr>
                </a:tc>
              </a:tr>
              <a:tr h="292608">
                <a:tc>
                  <a:txBody>
                    <a:bodyPr/>
                    <a:lstStyle/>
                    <a:p>
                      <a:pPr algn="ctr" indent="0" marL="0">
                        <a:buNone/>
                      </a:pPr>
                      <a:r>
                        <a:rPr lang="en-US" sz="1200" dirty="0">
                          <a:solidFill>
                            <a:srgbClr val="0B2545"/>
                          </a:solidFill>
                        </a:rPr>
                        <a:t>3</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B</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0</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CFE8EA"/>
                    </a:solidFill>
                  </a:tcPr>
                </a:tc>
                <a:tc>
                  <a:txBody>
                    <a:bodyPr/>
                    <a:lstStyle/>
                    <a:p>
                      <a:pPr algn="ctr" indent="0" marL="0">
                        <a:buNone/>
                      </a:pPr>
                      <a:r>
                        <a:rPr lang="en-US" sz="1200" b="1" dirty="0">
                          <a:solidFill>
                            <a:srgbClr val="FFFFFF"/>
                          </a:solidFill>
                        </a:rPr>
                        <a:t>3</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E7C86"/>
                    </a:solidFill>
                  </a:tcPr>
                </a:tc>
                <a:tc>
                  <a:txBody>
                    <a:bodyPr/>
                    <a:lstStyle/>
                    <a:p>
                      <a:pPr algn="ctr" indent="0" marL="0">
                        <a:buNone/>
                      </a:pPr>
                      <a:r>
                        <a:rPr lang="en-US" sz="1200" dirty="0">
                          <a:solidFill>
                            <a:srgbClr val="0B2545"/>
                          </a:solidFill>
                        </a:rPr>
                        <a:t>2</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CFE8EA"/>
                    </a:solidFill>
                  </a:tcPr>
                </a:tc>
                <a:tc>
                  <a:txBody>
                    <a:bodyPr/>
                    <a:lstStyle/>
                    <a:p>
                      <a:pPr algn="ctr" indent="0" marL="0">
                        <a:buNone/>
                      </a:pPr>
                      <a:r>
                        <a:rPr lang="en-US" sz="1200" b="1" dirty="0">
                          <a:solidFill>
                            <a:srgbClr val="0B2545"/>
                          </a:solidFill>
                        </a:rPr>
                        <a:t>8</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BD9BF"/>
                    </a:solidFill>
                  </a:tcPr>
                </a:tc>
                <a:tc>
                  <a:txBody>
                    <a:bodyPr/>
                    <a:lstStyle/>
                    <a:p>
                      <a:pPr algn="ctr" indent="0" marL="0">
                        <a:buNone/>
                      </a:pPr>
                      <a:r>
                        <a:rPr lang="en-US" sz="1200" dirty="0">
                          <a:solidFill>
                            <a:srgbClr val="0B2545"/>
                          </a:solidFill>
                        </a:rPr>
                        <a:t>12</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r>
              <a:tr h="292608">
                <a:tc>
                  <a:txBody>
                    <a:bodyPr/>
                    <a:lstStyle/>
                    <a:p>
                      <a:pPr algn="ctr" indent="0" marL="0">
                        <a:buNone/>
                      </a:pPr>
                      <a:r>
                        <a:rPr lang="en-US" sz="1200" dirty="0">
                          <a:solidFill>
                            <a:srgbClr val="0B2545"/>
                          </a:solidFill>
                        </a:rPr>
                        <a:t>4</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D</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0</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CFE8EA"/>
                    </a:solidFill>
                  </a:tcPr>
                </a:tc>
                <a:tc>
                  <a:txBody>
                    <a:bodyPr/>
                    <a:lstStyle/>
                    <a:p>
                      <a:pPr algn="ctr" indent="0" marL="0">
                        <a:buNone/>
                      </a:pPr>
                      <a:r>
                        <a:rPr lang="en-US" sz="1200" dirty="0">
                          <a:solidFill>
                            <a:srgbClr val="0B2545"/>
                          </a:solidFill>
                        </a:rPr>
                        <a:t>3</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CFE8EA"/>
                    </a:solidFill>
                  </a:tcPr>
                </a:tc>
                <a:tc>
                  <a:txBody>
                    <a:bodyPr/>
                    <a:lstStyle/>
                    <a:p>
                      <a:pPr algn="ctr" indent="0" marL="0">
                        <a:buNone/>
                      </a:pPr>
                      <a:r>
                        <a:rPr lang="en-US" sz="1200" dirty="0">
                          <a:solidFill>
                            <a:srgbClr val="0B2545"/>
                          </a:solidFill>
                        </a:rPr>
                        <a:t>2</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CFE8EA"/>
                    </a:solidFill>
                  </a:tcPr>
                </a:tc>
                <a:tc>
                  <a:txBody>
                    <a:bodyPr/>
                    <a:lstStyle/>
                    <a:p>
                      <a:pPr algn="ctr" indent="0" marL="0">
                        <a:buNone/>
                      </a:pPr>
                      <a:r>
                        <a:rPr lang="en-US" sz="1200" b="1" dirty="0">
                          <a:solidFill>
                            <a:srgbClr val="FFFFFF"/>
                          </a:solidFill>
                        </a:rPr>
                        <a:t>8</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0B2545"/>
                          </a:solidFill>
                        </a:rPr>
                        <a:t>10</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BD9BF"/>
                    </a:solidFill>
                  </a:tcPr>
                </a:tc>
              </a:tr>
              <a:tr h="292608">
                <a:tc>
                  <a:txBody>
                    <a:bodyPr/>
                    <a:lstStyle/>
                    <a:p>
                      <a:pPr algn="ctr" indent="0" marL="0">
                        <a:buNone/>
                      </a:pPr>
                      <a:r>
                        <a:rPr lang="en-US" sz="1200" dirty="0">
                          <a:solidFill>
                            <a:srgbClr val="0B2545"/>
                          </a:solidFill>
                        </a:rPr>
                        <a:t>5</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E</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2545"/>
                          </a:solidFill>
                        </a:rPr>
                        <a:t>0</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CFE8EA"/>
                    </a:solidFill>
                  </a:tcPr>
                </a:tc>
                <a:tc>
                  <a:txBody>
                    <a:bodyPr/>
                    <a:lstStyle/>
                    <a:p>
                      <a:pPr algn="ctr" indent="0" marL="0">
                        <a:buNone/>
                      </a:pPr>
                      <a:r>
                        <a:rPr lang="en-US" sz="1200" dirty="0">
                          <a:solidFill>
                            <a:srgbClr val="0B2545"/>
                          </a:solidFill>
                        </a:rPr>
                        <a:t>3</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CFE8EA"/>
                    </a:solidFill>
                  </a:tcPr>
                </a:tc>
                <a:tc>
                  <a:txBody>
                    <a:bodyPr/>
                    <a:lstStyle/>
                    <a:p>
                      <a:pPr algn="ctr" indent="0" marL="0">
                        <a:buNone/>
                      </a:pPr>
                      <a:r>
                        <a:rPr lang="en-US" sz="1200" dirty="0">
                          <a:solidFill>
                            <a:srgbClr val="0B2545"/>
                          </a:solidFill>
                        </a:rPr>
                        <a:t>2</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CFE8EA"/>
                    </a:solidFill>
                  </a:tcPr>
                </a:tc>
                <a:tc>
                  <a:txBody>
                    <a:bodyPr/>
                    <a:lstStyle/>
                    <a:p>
                      <a:pPr algn="ctr" indent="0" marL="0">
                        <a:buNone/>
                      </a:pPr>
                      <a:r>
                        <a:rPr lang="en-US" sz="1200" dirty="0">
                          <a:solidFill>
                            <a:srgbClr val="0B2545"/>
                          </a:solidFill>
                        </a:rPr>
                        <a:t>8</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CFE8EA"/>
                    </a:solidFill>
                  </a:tcPr>
                </a:tc>
                <a:tc>
                  <a:txBody>
                    <a:bodyPr/>
                    <a:lstStyle/>
                    <a:p>
                      <a:pPr algn="ctr" indent="0" marL="0">
                        <a:buNone/>
                      </a:pPr>
                      <a:r>
                        <a:rPr lang="en-US" sz="1200" b="1" dirty="0">
                          <a:solidFill>
                            <a:srgbClr val="FFFFFF"/>
                          </a:solidFill>
                        </a:rPr>
                        <a:t>10</a:t>
                      </a:r>
                      <a:endParaRPr lang="en-US" sz="1200" dirty="0"/>
                    </a:p>
                  </a:txBody>
                  <a:tcPr marL="0" marR="0" marT="0" marB="0" anchor="ctr">
                    <a:lnL w="9525" cap="flat" cmpd="sng" algn="ctr">
                      <a:solidFill>
                        <a:srgbClr val="C9D5E2"/>
                      </a:solidFill>
                      <a:prstDash val="solid"/>
                      <a:round/>
                      <a:headEnd type="none" w="med" len="med"/>
                      <a:tailEnd type="none" w="med" len="med"/>
                    </a:lnL>
                    <a:lnR w="9525" cap="flat" cmpd="sng" algn="ctr">
                      <a:solidFill>
                        <a:srgbClr val="C9D5E2"/>
                      </a:solidFill>
                      <a:prstDash val="solid"/>
                      <a:round/>
                      <a:headEnd type="none" w="med" len="med"/>
                      <a:tailEnd type="none" w="med" len="med"/>
                    </a:lnR>
                    <a:lnT w="9525" cap="flat" cmpd="sng" algn="ctr">
                      <a:solidFill>
                        <a:srgbClr val="C9D5E2"/>
                      </a:solidFill>
                      <a:prstDash val="solid"/>
                      <a:round/>
                      <a:headEnd type="none" w="med" len="med"/>
                      <a:tailEnd type="none" w="med" len="med"/>
                    </a:lnT>
                    <a:lnB w="9525" cap="flat" cmpd="sng" algn="ctr">
                      <a:solidFill>
                        <a:srgbClr val="C9D5E2"/>
                      </a:solidFill>
                      <a:prstDash val="solid"/>
                      <a:round/>
                      <a:headEnd type="none" w="med" len="med"/>
                      <a:tailEnd type="none" w="med" len="med"/>
                    </a:lnB>
                    <a:solidFill>
                      <a:srgbClr val="0E7C86"/>
                    </a:solidFill>
                  </a:tcPr>
                </a:tc>
              </a:tr>
            </a:tbl>
          </a:graphicData>
        </a:graphic>
      </p:graphicFrame>
      <p:sp>
        <p:nvSpPr>
          <p:cNvPr id="29" name="Shape 26"/>
          <p:cNvSpPr/>
          <p:nvPr/>
        </p:nvSpPr>
        <p:spPr>
          <a:xfrm>
            <a:off x="5029200" y="3200400"/>
            <a:ext cx="146304" cy="146304"/>
          </a:xfrm>
          <a:prstGeom prst="rect">
            <a:avLst/>
          </a:prstGeom>
          <a:solidFill>
            <a:srgbClr val="FBD9BF"/>
          </a:solidFill>
          <a:ln w="12700">
            <a:solidFill>
              <a:srgbClr val="FBD9BF"/>
            </a:solidFill>
            <a:prstDash val="solid"/>
          </a:ln>
        </p:spPr>
      </p:sp>
      <p:sp>
        <p:nvSpPr>
          <p:cNvPr id="30" name="Text 27"/>
          <p:cNvSpPr txBox="1"/>
          <p:nvPr/>
        </p:nvSpPr>
        <p:spPr>
          <a:xfrm>
            <a:off x="5221224" y="3154680"/>
            <a:ext cx="548640" cy="237744"/>
          </a:xfrm>
          <a:prstGeom prst="rect">
            <a:avLst/>
          </a:prstGeom>
          <a:noFill/>
          <a:ln/>
        </p:spPr>
        <p:txBody>
          <a:bodyPr wrap="square" lIns="0" tIns="0" rIns="0" bIns="0" rtlCol="0" anchor="ctr"/>
          <a:lstStyle/>
          <a:p>
            <a:pPr indent="0" marL="0">
              <a:buNone/>
            </a:pPr>
            <a:r>
              <a:rPr lang="en-US" sz="1000" dirty="0">
                <a:solidFill>
                  <a:schemeClr val="accent4"/>
                </a:solidFill>
              </a:rPr>
              <a:t>Updated</a:t>
            </a:r>
            <a:endParaRPr lang="en-US" sz="1000" dirty="0"/>
          </a:p>
        </p:txBody>
      </p:sp>
      <p:sp>
        <p:nvSpPr>
          <p:cNvPr id="31" name="Shape 28"/>
          <p:cNvSpPr/>
          <p:nvPr/>
        </p:nvSpPr>
        <p:spPr>
          <a:xfrm>
            <a:off x="5943600" y="3200400"/>
            <a:ext cx="146304" cy="146304"/>
          </a:xfrm>
          <a:prstGeom prst="rect">
            <a:avLst/>
          </a:prstGeom>
          <a:solidFill>
            <a:srgbClr val="0E7C86"/>
          </a:solidFill>
          <a:ln w="12700">
            <a:solidFill>
              <a:srgbClr val="0E7C86"/>
            </a:solidFill>
            <a:prstDash val="solid"/>
          </a:ln>
        </p:spPr>
      </p:sp>
      <p:sp>
        <p:nvSpPr>
          <p:cNvPr id="32" name="Text 29"/>
          <p:cNvSpPr txBox="1"/>
          <p:nvPr/>
        </p:nvSpPr>
        <p:spPr>
          <a:xfrm>
            <a:off x="6135624" y="3154680"/>
            <a:ext cx="868680" cy="237744"/>
          </a:xfrm>
          <a:prstGeom prst="rect">
            <a:avLst/>
          </a:prstGeom>
          <a:noFill/>
          <a:ln/>
        </p:spPr>
        <p:txBody>
          <a:bodyPr wrap="square" lIns="0" tIns="0" rIns="0" bIns="0" rtlCol="0" anchor="ctr"/>
          <a:lstStyle/>
          <a:p>
            <a:pPr indent="0" marL="0">
              <a:buNone/>
            </a:pPr>
            <a:r>
              <a:rPr lang="en-US" sz="1000" dirty="0">
                <a:solidFill>
                  <a:schemeClr val="accent4"/>
                </a:solidFill>
              </a:rPr>
              <a:t>Picked (final)</a:t>
            </a:r>
            <a:endParaRPr lang="en-US" sz="1000" dirty="0"/>
          </a:p>
        </p:txBody>
      </p:sp>
      <p:sp>
        <p:nvSpPr>
          <p:cNvPr id="33" name="Shape 30"/>
          <p:cNvSpPr/>
          <p:nvPr/>
        </p:nvSpPr>
        <p:spPr>
          <a:xfrm>
            <a:off x="7178040" y="3200400"/>
            <a:ext cx="146304" cy="146304"/>
          </a:xfrm>
          <a:prstGeom prst="rect">
            <a:avLst/>
          </a:prstGeom>
          <a:solidFill>
            <a:srgbClr val="CFE8EA"/>
          </a:solidFill>
          <a:ln w="12700">
            <a:solidFill>
              <a:srgbClr val="CFE8EA"/>
            </a:solidFill>
            <a:prstDash val="solid"/>
          </a:ln>
        </p:spPr>
      </p:sp>
      <p:sp>
        <p:nvSpPr>
          <p:cNvPr id="34" name="Text 31"/>
          <p:cNvSpPr txBox="1"/>
          <p:nvPr/>
        </p:nvSpPr>
        <p:spPr>
          <a:xfrm>
            <a:off x="7370064" y="3154680"/>
            <a:ext cx="548640" cy="237744"/>
          </a:xfrm>
          <a:prstGeom prst="rect">
            <a:avLst/>
          </a:prstGeom>
          <a:noFill/>
          <a:ln/>
        </p:spPr>
        <p:txBody>
          <a:bodyPr wrap="square" lIns="0" tIns="0" rIns="0" bIns="0" rtlCol="0" anchor="ctr"/>
          <a:lstStyle/>
          <a:p>
            <a:pPr indent="0" marL="0">
              <a:buNone/>
            </a:pPr>
            <a:r>
              <a:rPr lang="en-US" sz="1000" dirty="0">
                <a:solidFill>
                  <a:schemeClr val="accent4"/>
                </a:solidFill>
              </a:rPr>
              <a:t>Settled</a:t>
            </a:r>
            <a:endParaRPr lang="en-US" sz="1000" dirty="0"/>
          </a:p>
        </p:txBody>
      </p:sp>
      <p:sp>
        <p:nvSpPr>
          <p:cNvPr id="35" name="Text 32"/>
          <p:cNvSpPr txBox="1"/>
          <p:nvPr/>
        </p:nvSpPr>
        <p:spPr>
          <a:xfrm>
            <a:off x="5029200" y="3474720"/>
            <a:ext cx="3749040" cy="594360"/>
          </a:xfrm>
          <a:prstGeom prst="rect">
            <a:avLst/>
          </a:prstGeom>
          <a:noFill/>
          <a:ln/>
        </p:spPr>
        <p:txBody>
          <a:bodyPr wrap="square" lIns="0" tIns="0" rIns="0" bIns="0" rtlCol="0" anchor="t"/>
          <a:lstStyle/>
          <a:p>
            <a:pPr indent="0" marL="0">
              <a:buNone/>
            </a:pPr>
            <a:r>
              <a:rPr lang="en-US" sz="1200" dirty="0">
                <a:solidFill>
                  <a:schemeClr val="tx1"/>
                </a:solidFill>
              </a:rPr>
              <a:t>Iter 2: via C, B improves 4 → 3 (2 + 1)</a:t>
            </a:r>
            <a:endParaRPr lang="en-US" sz="1200" dirty="0"/>
          </a:p>
          <a:p>
            <a:pPr indent="0" marL="0">
              <a:buNone/>
            </a:pPr>
            <a:r>
              <a:rPr lang="en-US" sz="1200" dirty="0">
                <a:solidFill>
                  <a:schemeClr val="tx1"/>
                </a:solidFill>
              </a:rPr>
              <a:t>Iter 3: via B, D improves 10 → 8 (3 + 5)</a:t>
            </a:r>
            <a:endParaRPr lang="en-US" sz="1200" dirty="0"/>
          </a:p>
          <a:p>
            <a:pPr indent="0" marL="0">
              <a:buNone/>
            </a:pPr>
            <a:r>
              <a:rPr lang="en-US" sz="1200" dirty="0">
                <a:solidFill>
                  <a:schemeClr val="tx1"/>
                </a:solidFill>
              </a:rPr>
              <a:t>Iter 4: via D, E improves 12 → 10 (8 + 2)</a:t>
            </a:r>
            <a:endParaRPr lang="en-US" sz="1200" dirty="0"/>
          </a:p>
        </p:txBody>
      </p:sp>
      <p:sp>
        <p:nvSpPr>
          <p:cNvPr id="36" name="Text 33"/>
          <p:cNvSpPr txBox="1"/>
          <p:nvPr/>
        </p:nvSpPr>
        <p:spPr>
          <a:xfrm>
            <a:off x="365760" y="4114800"/>
            <a:ext cx="8412480" cy="502920"/>
          </a:xfrm>
          <a:prstGeom prst="roundRect">
            <a:avLst>
              <a:gd name="adj" fmla="val 18182"/>
            </a:avLst>
          </a:prstGeom>
          <a:solidFill>
            <a:schemeClr val="tx1"/>
          </a:solidFill>
          <a:ln>
            <a:solidFill>
              <a:schemeClr val="tx1"/>
            </a:solidFill>
          </a:ln>
        </p:spPr>
        <p:txBody>
          <a:bodyPr wrap="square" lIns="0" tIns="0" rIns="0" bIns="0" rtlCol="0" anchor="ctr"/>
          <a:lstStyle/>
          <a:p>
            <a:pPr algn="ctr" indent="0" marL="0">
              <a:buNone/>
            </a:pPr>
            <a:r>
              <a:rPr lang="en-US" sz="1600" b="1" dirty="0">
                <a:solidFill>
                  <a:schemeClr val="bg1"/>
                </a:solidFill>
              </a:rPr>
              <a:t>Shortest path A → E:  </a:t>
            </a:r>
            <a:pPr algn="ctr" indent="0" marL="0">
              <a:buNone/>
            </a:pPr>
            <a:r>
              <a:rPr lang="en-US" sz="1600" b="1" dirty="0">
                <a:solidFill>
                  <a:srgbClr val="F7A35C"/>
                </a:solidFill>
              </a:rPr>
              <a:t>A → C → B → D → E</a:t>
            </a:r>
            <a:pPr algn="ctr" indent="0" marL="0">
              <a:buNone/>
            </a:pPr>
            <a:r>
              <a:rPr lang="en-US" sz="1600" b="1" dirty="0">
                <a:solidFill>
                  <a:schemeClr val="bg1"/>
                </a:solidFill>
              </a:rPr>
              <a:t>   |   Cost = 2 + 1 + 5 + 2 = 10</a:t>
            </a:r>
            <a:endParaRPr lang="en-US" sz="16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Algorithm &amp; Pseudocode</a:t>
            </a:r>
            <a:endParaRPr lang="en-US" sz="3000" dirty="0"/>
          </a:p>
        </p:txBody>
      </p:sp>
      <p:sp>
        <p:nvSpPr>
          <p:cNvPr id="3" name="Code card"/>
          <p:cNvSpPr/>
          <p:nvPr/>
        </p:nvSpPr>
        <p:spPr>
          <a:xfrm>
            <a:off x="365760" y="1097280"/>
            <a:ext cx="4389120" cy="2377440"/>
          </a:xfrm>
          <a:prstGeom prst="roundRect">
            <a:avLst>
              <a:gd name="adj" fmla="val 3846"/>
            </a:avLst>
          </a:prstGeom>
          <a:solidFill>
            <a:schemeClr val="tx1"/>
          </a:solidFill>
          <a:ln w="12700">
            <a:solidFill>
              <a:schemeClr val="tx1"/>
            </a:solidFill>
            <a:prstDash val="solid"/>
          </a:ln>
          <a:effectLst>
            <a:outerShdw sx="100000" sy="100000" kx="0" ky="0" algn="bl" rotWithShape="0" blurRad="101600" dist="25400" dir="5400000">
              <a:srgbClr val="0B2545">
                <a:alpha val="12000"/>
              </a:srgbClr>
            </a:outerShdw>
          </a:effectLst>
        </p:spPr>
      </p:sp>
      <p:sp>
        <p:nvSpPr>
          <p:cNvPr id="4" name="Text 2"/>
          <p:cNvSpPr txBox="1"/>
          <p:nvPr/>
        </p:nvSpPr>
        <p:spPr>
          <a:xfrm>
            <a:off x="548640" y="1188720"/>
            <a:ext cx="4114800" cy="2194560"/>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Dijkstra(Graph, source):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for each vertex v:</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dist[v] ← ∞;  visited[v] ← false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dist[source] ← 0</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while unvisited vertices remain:</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u ← unvisited vertex with min dist</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visited[u] ← true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for each neighbour v of u:</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if dist[u] + w(u,v) &lt; dist[v]:</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dist[v] ← dist[u] + w(u,v)</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parent[v] ← u</a:t>
            </a:r>
            <a:endParaRPr lang="en-US" sz="1200" dirty="0"/>
          </a:p>
        </p:txBody>
      </p:sp>
      <p:sp>
        <p:nvSpPr>
          <p:cNvPr id="5" name="Mini example card"/>
          <p:cNvSpPr/>
          <p:nvPr/>
        </p:nvSpPr>
        <p:spPr>
          <a:xfrm>
            <a:off x="365760" y="3611880"/>
            <a:ext cx="4389120" cy="960120"/>
          </a:xfrm>
          <a:prstGeom prst="roundRect">
            <a:avLst>
              <a:gd name="adj" fmla="val 9524"/>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6" name="Shape 4"/>
          <p:cNvSpPr/>
          <p:nvPr/>
        </p:nvSpPr>
        <p:spPr>
          <a:xfrm flipV="1">
            <a:off x="777240" y="3886200"/>
            <a:ext cx="685800" cy="457200"/>
          </a:xfrm>
          <a:prstGeom prst="line">
            <a:avLst/>
          </a:prstGeom>
          <a:noFill/>
          <a:ln w="63500">
            <a:solidFill>
              <a:schemeClr val="accent2"/>
            </a:solidFill>
            <a:prstDash val="solid"/>
          </a:ln>
        </p:spPr>
      </p:sp>
      <p:sp>
        <p:nvSpPr>
          <p:cNvPr id="7" name="Shape 5"/>
          <p:cNvSpPr/>
          <p:nvPr/>
        </p:nvSpPr>
        <p:spPr>
          <a:xfrm>
            <a:off x="1463040" y="3886200"/>
            <a:ext cx="685800" cy="457200"/>
          </a:xfrm>
          <a:prstGeom prst="line">
            <a:avLst/>
          </a:prstGeom>
          <a:noFill/>
          <a:ln w="63500">
            <a:solidFill>
              <a:schemeClr val="accent2"/>
            </a:solidFill>
            <a:prstDash val="solid"/>
          </a:ln>
        </p:spPr>
      </p:sp>
      <p:sp>
        <p:nvSpPr>
          <p:cNvPr id="8" name="Shape 6"/>
          <p:cNvSpPr/>
          <p:nvPr/>
        </p:nvSpPr>
        <p:spPr>
          <a:xfrm>
            <a:off x="777240" y="4343400"/>
            <a:ext cx="1371600" cy="0"/>
          </a:xfrm>
          <a:prstGeom prst="line">
            <a:avLst/>
          </a:prstGeom>
          <a:noFill/>
          <a:ln w="25400">
            <a:solidFill>
              <a:schemeClr val="accent4"/>
            </a:solidFill>
            <a:prstDash val="solid"/>
          </a:ln>
        </p:spPr>
      </p:sp>
      <p:sp>
        <p:nvSpPr>
          <p:cNvPr id="9" name="Text 7"/>
          <p:cNvSpPr txBox="1"/>
          <p:nvPr/>
        </p:nvSpPr>
        <p:spPr>
          <a:xfrm>
            <a:off x="973836" y="4005072"/>
            <a:ext cx="292608" cy="219456"/>
          </a:xfrm>
          <a:prstGeom prst="roundRect">
            <a:avLst>
              <a:gd name="adj" fmla="val 33333"/>
            </a:avLst>
          </a:prstGeom>
          <a:solidFill>
            <a:schemeClr val="bg1"/>
          </a:solidFill>
          <a:ln w="12700">
            <a:solidFill>
              <a:schemeClr val="accent2"/>
            </a:solidFill>
          </a:ln>
        </p:spPr>
        <p:txBody>
          <a:bodyPr wrap="square" lIns="0" tIns="0" rIns="0" bIns="0" rtlCol="0" anchor="ctr"/>
          <a:lstStyle/>
          <a:p>
            <a:pPr algn="ctr" indent="0" marL="0">
              <a:buNone/>
            </a:pPr>
            <a:r>
              <a:rPr lang="en-US" sz="1000" b="1" dirty="0">
                <a:solidFill>
                  <a:schemeClr val="tx1"/>
                </a:solidFill>
              </a:rPr>
              <a:t>1</a:t>
            </a:r>
            <a:endParaRPr lang="en-US" sz="1000" dirty="0"/>
          </a:p>
        </p:txBody>
      </p:sp>
      <p:sp>
        <p:nvSpPr>
          <p:cNvPr id="10" name="Text 8"/>
          <p:cNvSpPr txBox="1"/>
          <p:nvPr/>
        </p:nvSpPr>
        <p:spPr>
          <a:xfrm>
            <a:off x="1659636" y="4005072"/>
            <a:ext cx="292608" cy="219456"/>
          </a:xfrm>
          <a:prstGeom prst="roundRect">
            <a:avLst>
              <a:gd name="adj" fmla="val 33333"/>
            </a:avLst>
          </a:prstGeom>
          <a:solidFill>
            <a:schemeClr val="bg1"/>
          </a:solidFill>
          <a:ln w="12700">
            <a:solidFill>
              <a:schemeClr val="accent2"/>
            </a:solidFill>
          </a:ln>
        </p:spPr>
        <p:txBody>
          <a:bodyPr wrap="square" lIns="0" tIns="0" rIns="0" bIns="0" rtlCol="0" anchor="ctr"/>
          <a:lstStyle/>
          <a:p>
            <a:pPr algn="ctr" indent="0" marL="0">
              <a:buNone/>
            </a:pPr>
            <a:r>
              <a:rPr lang="en-US" sz="1000" b="1" dirty="0">
                <a:solidFill>
                  <a:schemeClr val="tx1"/>
                </a:solidFill>
              </a:rPr>
              <a:t>2</a:t>
            </a:r>
            <a:endParaRPr lang="en-US" sz="1000" dirty="0"/>
          </a:p>
        </p:txBody>
      </p:sp>
      <p:sp>
        <p:nvSpPr>
          <p:cNvPr id="11" name="Text 9"/>
          <p:cNvSpPr txBox="1"/>
          <p:nvPr/>
        </p:nvSpPr>
        <p:spPr>
          <a:xfrm>
            <a:off x="1316736" y="4233672"/>
            <a:ext cx="292608" cy="219456"/>
          </a:xfrm>
          <a:prstGeom prst="roundRect">
            <a:avLst>
              <a:gd name="adj" fmla="val 33333"/>
            </a:avLst>
          </a:prstGeom>
          <a:solidFill>
            <a:schemeClr val="bg1"/>
          </a:solidFill>
          <a:ln w="12700">
            <a:solidFill>
              <a:schemeClr val="accent4"/>
            </a:solidFill>
          </a:ln>
        </p:spPr>
        <p:txBody>
          <a:bodyPr wrap="square" lIns="0" tIns="0" rIns="0" bIns="0" rtlCol="0" anchor="ctr"/>
          <a:lstStyle/>
          <a:p>
            <a:pPr algn="ctr" indent="0" marL="0">
              <a:buNone/>
            </a:pPr>
            <a:r>
              <a:rPr lang="en-US" sz="1000" b="1" dirty="0">
                <a:solidFill>
                  <a:schemeClr val="tx1"/>
                </a:solidFill>
              </a:rPr>
              <a:t>5</a:t>
            </a:r>
            <a:endParaRPr lang="en-US" sz="1000" dirty="0"/>
          </a:p>
        </p:txBody>
      </p:sp>
      <p:sp>
        <p:nvSpPr>
          <p:cNvPr id="12" name="Node A"/>
          <p:cNvSpPr txBox="1"/>
          <p:nvPr/>
        </p:nvSpPr>
        <p:spPr>
          <a:xfrm>
            <a:off x="603504" y="4169664"/>
            <a:ext cx="347472" cy="347472"/>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13" name="Node B"/>
          <p:cNvSpPr txBox="1"/>
          <p:nvPr/>
        </p:nvSpPr>
        <p:spPr>
          <a:xfrm>
            <a:off x="1289304" y="3712464"/>
            <a:ext cx="347472" cy="347472"/>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4" name="Node C"/>
          <p:cNvSpPr txBox="1"/>
          <p:nvPr/>
        </p:nvSpPr>
        <p:spPr>
          <a:xfrm>
            <a:off x="1975104" y="4169664"/>
            <a:ext cx="347472" cy="347472"/>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15" name="Text 13"/>
          <p:cNvSpPr txBox="1"/>
          <p:nvPr/>
        </p:nvSpPr>
        <p:spPr>
          <a:xfrm>
            <a:off x="2743200" y="3657600"/>
            <a:ext cx="1965960" cy="868680"/>
          </a:xfrm>
          <a:prstGeom prst="rect">
            <a:avLst/>
          </a:prstGeom>
          <a:noFill/>
          <a:ln/>
        </p:spPr>
        <p:txBody>
          <a:bodyPr wrap="square" lIns="0" tIns="0" rIns="0" bIns="0" rtlCol="0" anchor="ctr"/>
          <a:lstStyle/>
          <a:p>
            <a:pPr indent="0" marL="0">
              <a:buNone/>
            </a:pPr>
            <a:r>
              <a:rPr lang="en-US" sz="1200" b="1" dirty="0">
                <a:solidFill>
                  <a:schemeClr val="accent1"/>
                </a:solidFill>
              </a:rPr>
              <a:t>Mini example (source A)</a:t>
            </a:r>
            <a:endParaRPr lang="en-US" sz="1200" dirty="0"/>
          </a:p>
          <a:p>
            <a:pPr indent="0" marL="0">
              <a:buNone/>
            </a:pPr>
            <a:r>
              <a:rPr lang="en-US" sz="1200" dirty="0">
                <a:solidFill>
                  <a:schemeClr val="tx1"/>
                </a:solidFill>
              </a:rPr>
              <a:t>Direct A → C = 5</a:t>
            </a:r>
            <a:endParaRPr lang="en-US" sz="1200" dirty="0"/>
          </a:p>
          <a:p>
            <a:pPr indent="0" marL="0">
              <a:buNone/>
            </a:pPr>
            <a:r>
              <a:rPr lang="en-US" sz="1200" dirty="0">
                <a:solidFill>
                  <a:schemeClr val="tx1"/>
                </a:solidFill>
              </a:rPr>
              <a:t>Via B: 1 + 2 = 3</a:t>
            </a:r>
            <a:endParaRPr lang="en-US" sz="1200" dirty="0"/>
          </a:p>
          <a:p>
            <a:pPr indent="0" marL="0">
              <a:buNone/>
            </a:pPr>
            <a:r>
              <a:rPr lang="en-US" sz="1200" dirty="0">
                <a:solidFill>
                  <a:schemeClr val="tx1"/>
                </a:solidFill>
              </a:rPr>
              <a:t>So dist[C] = 3 (shorter)</a:t>
            </a:r>
            <a:endParaRPr lang="en-US" sz="1200" dirty="0"/>
          </a:p>
        </p:txBody>
      </p:sp>
      <p:sp>
        <p:nvSpPr>
          <p:cNvPr id="16" name="Flowchart card"/>
          <p:cNvSpPr/>
          <p:nvPr/>
        </p:nvSpPr>
        <p:spPr>
          <a:xfrm>
            <a:off x="4937760" y="1097280"/>
            <a:ext cx="3840480" cy="3474720"/>
          </a:xfrm>
          <a:prstGeom prst="roundRect">
            <a:avLst>
              <a:gd name="adj" fmla="val 2632"/>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17" name="Text 15"/>
          <p:cNvSpPr txBox="1"/>
          <p:nvPr/>
        </p:nvSpPr>
        <p:spPr>
          <a:xfrm>
            <a:off x="6172200" y="1234440"/>
            <a:ext cx="1097280" cy="274320"/>
          </a:xfrm>
          <a:prstGeom prst="roundRect">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Start</a:t>
            </a:r>
            <a:endParaRPr lang="en-US" sz="1200" dirty="0"/>
          </a:p>
        </p:txBody>
      </p:sp>
      <p:sp>
        <p:nvSpPr>
          <p:cNvPr id="18" name="Shape 16"/>
          <p:cNvSpPr/>
          <p:nvPr/>
        </p:nvSpPr>
        <p:spPr>
          <a:xfrm>
            <a:off x="6720840" y="1508760"/>
            <a:ext cx="0" cy="137160"/>
          </a:xfrm>
          <a:prstGeom prst="line">
            <a:avLst/>
          </a:prstGeom>
          <a:noFill/>
          <a:ln w="22225">
            <a:solidFill>
              <a:schemeClr val="tx1"/>
            </a:solidFill>
            <a:prstDash val="solid"/>
            <a:tailEnd type="triangle"/>
          </a:ln>
        </p:spPr>
      </p:sp>
      <p:sp>
        <p:nvSpPr>
          <p:cNvPr id="19" name="Text 17"/>
          <p:cNvSpPr txBox="1"/>
          <p:nvPr/>
        </p:nvSpPr>
        <p:spPr>
          <a:xfrm>
            <a:off x="5349240" y="1645920"/>
            <a:ext cx="2743200" cy="365760"/>
          </a:xfrm>
          <a:prstGeom prst="rect">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Set dist[src] = 0, others = ∞</a:t>
            </a:r>
            <a:endParaRPr lang="en-US" sz="1200" dirty="0"/>
          </a:p>
        </p:txBody>
      </p:sp>
      <p:sp>
        <p:nvSpPr>
          <p:cNvPr id="20" name="Shape 18"/>
          <p:cNvSpPr/>
          <p:nvPr/>
        </p:nvSpPr>
        <p:spPr>
          <a:xfrm>
            <a:off x="6720840" y="2011680"/>
            <a:ext cx="0" cy="137160"/>
          </a:xfrm>
          <a:prstGeom prst="line">
            <a:avLst/>
          </a:prstGeom>
          <a:noFill/>
          <a:ln w="22225">
            <a:solidFill>
              <a:schemeClr val="tx1"/>
            </a:solidFill>
            <a:prstDash val="solid"/>
            <a:tailEnd type="triangle"/>
          </a:ln>
        </p:spPr>
      </p:sp>
      <p:sp>
        <p:nvSpPr>
          <p:cNvPr id="21" name="Text 19"/>
          <p:cNvSpPr txBox="1"/>
          <p:nvPr/>
        </p:nvSpPr>
        <p:spPr>
          <a:xfrm>
            <a:off x="5349240" y="2148840"/>
            <a:ext cx="2743200" cy="365760"/>
          </a:xfrm>
          <a:prstGeom prst="rect">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Pick unvisited u with min dist</a:t>
            </a:r>
            <a:endParaRPr lang="en-US" sz="1200" dirty="0"/>
          </a:p>
        </p:txBody>
      </p:sp>
      <p:sp>
        <p:nvSpPr>
          <p:cNvPr id="22" name="Shape 20"/>
          <p:cNvSpPr/>
          <p:nvPr/>
        </p:nvSpPr>
        <p:spPr>
          <a:xfrm>
            <a:off x="6720840" y="2514600"/>
            <a:ext cx="0" cy="137160"/>
          </a:xfrm>
          <a:prstGeom prst="line">
            <a:avLst/>
          </a:prstGeom>
          <a:noFill/>
          <a:ln w="22225">
            <a:solidFill>
              <a:schemeClr val="tx1"/>
            </a:solidFill>
            <a:prstDash val="solid"/>
            <a:tailEnd type="triangle"/>
          </a:ln>
        </p:spPr>
      </p:sp>
      <p:sp>
        <p:nvSpPr>
          <p:cNvPr id="23" name="Text 21"/>
          <p:cNvSpPr txBox="1"/>
          <p:nvPr/>
        </p:nvSpPr>
        <p:spPr>
          <a:xfrm>
            <a:off x="5349240" y="2651760"/>
            <a:ext cx="2743200" cy="365760"/>
          </a:xfrm>
          <a:prstGeom prst="rect">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Relax every edge (u, v)</a:t>
            </a:r>
            <a:endParaRPr lang="en-US" sz="1200" dirty="0"/>
          </a:p>
        </p:txBody>
      </p:sp>
      <p:sp>
        <p:nvSpPr>
          <p:cNvPr id="24" name="Shape 22"/>
          <p:cNvSpPr/>
          <p:nvPr/>
        </p:nvSpPr>
        <p:spPr>
          <a:xfrm>
            <a:off x="6720840" y="3017520"/>
            <a:ext cx="0" cy="137160"/>
          </a:xfrm>
          <a:prstGeom prst="line">
            <a:avLst/>
          </a:prstGeom>
          <a:noFill/>
          <a:ln w="22225">
            <a:solidFill>
              <a:schemeClr val="tx1"/>
            </a:solidFill>
            <a:prstDash val="solid"/>
            <a:tailEnd type="triangle"/>
          </a:ln>
        </p:spPr>
      </p:sp>
      <p:sp>
        <p:nvSpPr>
          <p:cNvPr id="25" name="Text 23"/>
          <p:cNvSpPr txBox="1"/>
          <p:nvPr/>
        </p:nvSpPr>
        <p:spPr>
          <a:xfrm>
            <a:off x="5623560" y="3154680"/>
            <a:ext cx="2194560" cy="777240"/>
          </a:xfrm>
          <a:prstGeom prst="diamond">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Unvisited left?</a:t>
            </a:r>
            <a:endParaRPr lang="en-US" sz="1200" dirty="0"/>
          </a:p>
        </p:txBody>
      </p:sp>
      <p:sp>
        <p:nvSpPr>
          <p:cNvPr id="26" name="Shape 24"/>
          <p:cNvSpPr/>
          <p:nvPr/>
        </p:nvSpPr>
        <p:spPr>
          <a:xfrm>
            <a:off x="6720840" y="3931920"/>
            <a:ext cx="0" cy="182880"/>
          </a:xfrm>
          <a:prstGeom prst="line">
            <a:avLst/>
          </a:prstGeom>
          <a:noFill/>
          <a:ln w="22225">
            <a:solidFill>
              <a:schemeClr val="tx1"/>
            </a:solidFill>
            <a:prstDash val="solid"/>
            <a:tailEnd type="triangle"/>
          </a:ln>
        </p:spPr>
      </p:sp>
      <p:sp>
        <p:nvSpPr>
          <p:cNvPr id="27" name="Text 25"/>
          <p:cNvSpPr txBox="1"/>
          <p:nvPr/>
        </p:nvSpPr>
        <p:spPr>
          <a:xfrm>
            <a:off x="6784848" y="3931920"/>
            <a:ext cx="365760" cy="182880"/>
          </a:xfrm>
          <a:prstGeom prst="rect">
            <a:avLst/>
          </a:prstGeom>
          <a:noFill/>
          <a:ln/>
        </p:spPr>
        <p:txBody>
          <a:bodyPr wrap="square" lIns="0" tIns="0" rIns="0" bIns="0" rtlCol="0" anchor="ctr"/>
          <a:lstStyle/>
          <a:p>
            <a:pPr indent="0" marL="0">
              <a:buNone/>
            </a:pPr>
            <a:r>
              <a:rPr lang="en-US" sz="1100" b="1" dirty="0">
                <a:solidFill>
                  <a:schemeClr val="tx1"/>
                </a:solidFill>
              </a:rPr>
              <a:t>No</a:t>
            </a:r>
            <a:endParaRPr lang="en-US" sz="1100" dirty="0"/>
          </a:p>
        </p:txBody>
      </p:sp>
      <p:sp>
        <p:nvSpPr>
          <p:cNvPr id="28" name="Text 26"/>
          <p:cNvSpPr txBox="1"/>
          <p:nvPr/>
        </p:nvSpPr>
        <p:spPr>
          <a:xfrm>
            <a:off x="6172200" y="4114800"/>
            <a:ext cx="1097280" cy="274320"/>
          </a:xfrm>
          <a:prstGeom prst="roundRect">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End</a:t>
            </a:r>
            <a:endParaRPr lang="en-US" sz="1200" dirty="0"/>
          </a:p>
        </p:txBody>
      </p:sp>
      <p:sp>
        <p:nvSpPr>
          <p:cNvPr id="29" name="Shape 27"/>
          <p:cNvSpPr/>
          <p:nvPr/>
        </p:nvSpPr>
        <p:spPr>
          <a:xfrm>
            <a:off x="7818120" y="3543300"/>
            <a:ext cx="502920" cy="0"/>
          </a:xfrm>
          <a:prstGeom prst="line">
            <a:avLst/>
          </a:prstGeom>
          <a:noFill/>
          <a:ln w="22225">
            <a:solidFill>
              <a:schemeClr val="tx1"/>
            </a:solidFill>
            <a:prstDash val="solid"/>
          </a:ln>
        </p:spPr>
      </p:sp>
      <p:sp>
        <p:nvSpPr>
          <p:cNvPr id="30" name="Shape 28"/>
          <p:cNvSpPr/>
          <p:nvPr/>
        </p:nvSpPr>
        <p:spPr>
          <a:xfrm>
            <a:off x="8321040" y="2331720"/>
            <a:ext cx="0" cy="1211580"/>
          </a:xfrm>
          <a:prstGeom prst="line">
            <a:avLst/>
          </a:prstGeom>
          <a:noFill/>
          <a:ln w="22225">
            <a:solidFill>
              <a:schemeClr val="tx1"/>
            </a:solidFill>
            <a:prstDash val="solid"/>
          </a:ln>
        </p:spPr>
      </p:sp>
      <p:sp>
        <p:nvSpPr>
          <p:cNvPr id="31" name="Shape 29"/>
          <p:cNvSpPr/>
          <p:nvPr/>
        </p:nvSpPr>
        <p:spPr>
          <a:xfrm flipH="1">
            <a:off x="8092440" y="2331720"/>
            <a:ext cx="228600" cy="0"/>
          </a:xfrm>
          <a:prstGeom prst="line">
            <a:avLst/>
          </a:prstGeom>
          <a:noFill/>
          <a:ln w="22225">
            <a:solidFill>
              <a:schemeClr val="tx1"/>
            </a:solidFill>
            <a:prstDash val="solid"/>
            <a:tailEnd type="triangle"/>
          </a:ln>
        </p:spPr>
      </p:sp>
      <p:sp>
        <p:nvSpPr>
          <p:cNvPr id="32" name="Text 30"/>
          <p:cNvSpPr txBox="1"/>
          <p:nvPr/>
        </p:nvSpPr>
        <p:spPr>
          <a:xfrm>
            <a:off x="7863840" y="3310128"/>
            <a:ext cx="411480" cy="201168"/>
          </a:xfrm>
          <a:prstGeom prst="rect">
            <a:avLst/>
          </a:prstGeom>
          <a:noFill/>
          <a:ln/>
        </p:spPr>
        <p:txBody>
          <a:bodyPr wrap="square" lIns="0" tIns="0" rIns="0" bIns="0" rtlCol="0" anchor="ctr"/>
          <a:lstStyle/>
          <a:p>
            <a:pPr indent="0" marL="0">
              <a:buNone/>
            </a:pPr>
            <a:r>
              <a:rPr lang="en-US" sz="1100" b="1" dirty="0">
                <a:solidFill>
                  <a:schemeClr val="tx1"/>
                </a:solidFill>
              </a:rPr>
              <a:t>Yes</a:t>
            </a:r>
            <a:endParaRPr lang="en-US" sz="11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Time Complexity</a:t>
            </a:r>
            <a:endParaRPr lang="en-US" sz="3000" dirty="0"/>
          </a:p>
        </p:txBody>
      </p:sp>
      <p:sp>
        <p:nvSpPr>
          <p:cNvPr id="3" name="Priority Queue card"/>
          <p:cNvSpPr/>
          <p:nvPr/>
        </p:nvSpPr>
        <p:spPr>
          <a:xfrm>
            <a:off x="365760" y="1097280"/>
            <a:ext cx="4114800" cy="2606040"/>
          </a:xfrm>
          <a:prstGeom prst="roundRect">
            <a:avLst>
              <a:gd name="adj" fmla="val 3509"/>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4" name="FaLayerGroup circle"/>
          <p:cNvSpPr/>
          <p:nvPr/>
        </p:nvSpPr>
        <p:spPr>
          <a:xfrm>
            <a:off x="548640" y="1234440"/>
            <a:ext cx="502920" cy="502920"/>
          </a:xfrm>
          <a:prstGeom prst="ellipse">
            <a:avLst/>
          </a:prstGeom>
          <a:solidFill>
            <a:schemeClr val="accent1"/>
          </a:solidFill>
          <a:ln w="12700">
            <a:solidFill>
              <a:schemeClr val="accent1"/>
            </a:solidFill>
            <a:prstDash val="solid"/>
          </a:ln>
        </p:spPr>
      </p:sp>
      <p:pic>
        <p:nvPicPr>
          <p:cNvPr id="5" name="FaLayerGroup" descr="FaLayerGroup">    </p:cNvPr>
          <p:cNvPicPr>
            <a:picLocks noChangeAspect="1"/>
          </p:cNvPicPr>
          <p:nvPr/>
        </p:nvPicPr>
        <p:blipFill>
          <a:blip r:embed="rId1"/>
          <a:stretch>
            <a:fillRect/>
          </a:stretch>
        </p:blipFill>
        <p:spPr>
          <a:xfrm>
            <a:off x="674370" y="1360170"/>
            <a:ext cx="251460" cy="251460"/>
          </a:xfrm>
          <a:prstGeom prst="rect">
            <a:avLst/>
          </a:prstGeom>
        </p:spPr>
      </p:pic>
      <p:sp>
        <p:nvSpPr>
          <p:cNvPr id="6" name="Text 3"/>
          <p:cNvSpPr txBox="1"/>
          <p:nvPr/>
        </p:nvSpPr>
        <p:spPr>
          <a:xfrm>
            <a:off x="1188720" y="1234440"/>
            <a:ext cx="3108960" cy="502920"/>
          </a:xfrm>
          <a:prstGeom prst="rect">
            <a:avLst/>
          </a:prstGeom>
          <a:noFill/>
          <a:ln/>
        </p:spPr>
        <p:txBody>
          <a:bodyPr wrap="square" lIns="0" tIns="0" rIns="0" bIns="0" rtlCol="0" anchor="ctr"/>
          <a:lstStyle/>
          <a:p>
            <a:pPr indent="0" marL="0">
              <a:buNone/>
            </a:pPr>
            <a:r>
              <a:rPr lang="en-US" sz="1600" b="1" dirty="0">
                <a:solidFill>
                  <a:schemeClr val="tx1"/>
                </a:solidFill>
              </a:rPr>
              <a:t>Priority Queue</a:t>
            </a:r>
            <a:endParaRPr lang="en-US" sz="1600" dirty="0"/>
          </a:p>
          <a:p>
            <a:pPr indent="0" marL="0">
              <a:buNone/>
            </a:pPr>
            <a:r>
              <a:rPr lang="en-US" sz="1200" dirty="0">
                <a:solidFill>
                  <a:schemeClr val="accent4"/>
                </a:solidFill>
              </a:rPr>
              <a:t>Binary heap + adjacency list</a:t>
            </a:r>
            <a:endParaRPr lang="en-US" sz="1600" dirty="0"/>
          </a:p>
        </p:txBody>
      </p:sp>
      <p:sp>
        <p:nvSpPr>
          <p:cNvPr id="7" name="Text 4"/>
          <p:cNvSpPr txBox="1"/>
          <p:nvPr/>
        </p:nvSpPr>
        <p:spPr>
          <a:xfrm>
            <a:off x="548640" y="1828800"/>
            <a:ext cx="374904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O((V + E) log V)</a:t>
            </a:r>
            <a:endParaRPr lang="en-US" sz="2800" dirty="0"/>
          </a:p>
        </p:txBody>
      </p:sp>
      <p:sp>
        <p:nvSpPr>
          <p:cNvPr id="8" name="Text 5"/>
          <p:cNvSpPr txBox="1"/>
          <p:nvPr/>
        </p:nvSpPr>
        <p:spPr>
          <a:xfrm>
            <a:off x="548640" y="2468880"/>
            <a:ext cx="374904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Each vertex is extracted once: V × log V</a:t>
            </a:r>
            <a:endParaRPr lang="en-US" sz="1400" dirty="0"/>
          </a:p>
          <a:p>
            <a:pPr marL="342900" indent="-342900">
              <a:spcAft>
                <a:spcPts val="600"/>
              </a:spcAft>
              <a:buSzPct val="100000"/>
              <a:buChar char="•"/>
            </a:pPr>
            <a:r>
              <a:rPr lang="en-US" sz="1400" dirty="0">
                <a:solidFill>
                  <a:schemeClr val="tx1"/>
                </a:solidFill>
              </a:rPr>
              <a:t>Each edge may update the heap: E × log V</a:t>
            </a:r>
            <a:endParaRPr lang="en-US" sz="1400" dirty="0"/>
          </a:p>
        </p:txBody>
      </p:sp>
      <p:sp>
        <p:nvSpPr>
          <p:cNvPr id="9" name="Adjacency Matrix card"/>
          <p:cNvSpPr/>
          <p:nvPr/>
        </p:nvSpPr>
        <p:spPr>
          <a:xfrm>
            <a:off x="4663440" y="1097280"/>
            <a:ext cx="4114800" cy="2606040"/>
          </a:xfrm>
          <a:prstGeom prst="roundRect">
            <a:avLst>
              <a:gd name="adj" fmla="val 3509"/>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10" name="FaTh circle"/>
          <p:cNvSpPr/>
          <p:nvPr/>
        </p:nvSpPr>
        <p:spPr>
          <a:xfrm>
            <a:off x="4846320" y="1234440"/>
            <a:ext cx="502920" cy="502920"/>
          </a:xfrm>
          <a:prstGeom prst="ellipse">
            <a:avLst/>
          </a:prstGeom>
          <a:solidFill>
            <a:schemeClr val="accent1"/>
          </a:solidFill>
          <a:ln w="12700">
            <a:solidFill>
              <a:schemeClr val="accent1"/>
            </a:solidFill>
            <a:prstDash val="solid"/>
          </a:ln>
        </p:spPr>
      </p:sp>
      <p:pic>
        <p:nvPicPr>
          <p:cNvPr id="11" name="FaTh" descr="FaTh">    </p:cNvPr>
          <p:cNvPicPr>
            <a:picLocks noChangeAspect="1"/>
          </p:cNvPicPr>
          <p:nvPr/>
        </p:nvPicPr>
        <p:blipFill>
          <a:blip r:embed="rId2"/>
          <a:stretch>
            <a:fillRect/>
          </a:stretch>
        </p:blipFill>
        <p:spPr>
          <a:xfrm>
            <a:off x="4972050" y="1360170"/>
            <a:ext cx="251460" cy="251460"/>
          </a:xfrm>
          <a:prstGeom prst="rect">
            <a:avLst/>
          </a:prstGeom>
        </p:spPr>
      </p:pic>
      <p:sp>
        <p:nvSpPr>
          <p:cNvPr id="12" name="Text 8"/>
          <p:cNvSpPr txBox="1"/>
          <p:nvPr/>
        </p:nvSpPr>
        <p:spPr>
          <a:xfrm>
            <a:off x="5486400" y="1234440"/>
            <a:ext cx="3108960" cy="502920"/>
          </a:xfrm>
          <a:prstGeom prst="rect">
            <a:avLst/>
          </a:prstGeom>
          <a:noFill/>
          <a:ln/>
        </p:spPr>
        <p:txBody>
          <a:bodyPr wrap="square" lIns="0" tIns="0" rIns="0" bIns="0" rtlCol="0" anchor="ctr"/>
          <a:lstStyle/>
          <a:p>
            <a:pPr indent="0" marL="0">
              <a:buNone/>
            </a:pPr>
            <a:r>
              <a:rPr lang="en-US" sz="1600" b="1" dirty="0">
                <a:solidFill>
                  <a:schemeClr val="tx1"/>
                </a:solidFill>
              </a:rPr>
              <a:t>Adjacency Matrix</a:t>
            </a:r>
            <a:endParaRPr lang="en-US" sz="1600" dirty="0"/>
          </a:p>
          <a:p>
            <a:pPr indent="0" marL="0">
              <a:buNone/>
            </a:pPr>
            <a:r>
              <a:rPr lang="en-US" sz="1200" dirty="0">
                <a:solidFill>
                  <a:schemeClr val="accent4"/>
                </a:solidFill>
              </a:rPr>
              <a:t>Array scan, no heap</a:t>
            </a:r>
            <a:endParaRPr lang="en-US" sz="1600" dirty="0"/>
          </a:p>
        </p:txBody>
      </p:sp>
      <p:sp>
        <p:nvSpPr>
          <p:cNvPr id="13" name="Text 9"/>
          <p:cNvSpPr txBox="1"/>
          <p:nvPr/>
        </p:nvSpPr>
        <p:spPr>
          <a:xfrm>
            <a:off x="4846320" y="1828800"/>
            <a:ext cx="374904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O(V²)</a:t>
            </a:r>
            <a:endParaRPr lang="en-US" sz="2800" dirty="0"/>
          </a:p>
        </p:txBody>
      </p:sp>
      <p:sp>
        <p:nvSpPr>
          <p:cNvPr id="14" name="Text 10"/>
          <p:cNvSpPr txBox="1"/>
          <p:nvPr/>
        </p:nvSpPr>
        <p:spPr>
          <a:xfrm>
            <a:off x="4846320" y="2468880"/>
            <a:ext cx="374904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Finding the minimum scans V entries, done V times</a:t>
            </a:r>
            <a:endParaRPr lang="en-US" sz="1400" dirty="0"/>
          </a:p>
          <a:p>
            <a:pPr marL="342900" indent="-342900">
              <a:spcAft>
                <a:spcPts val="600"/>
              </a:spcAft>
              <a:buSzPct val="100000"/>
              <a:buChar char="•"/>
            </a:pPr>
            <a:r>
              <a:rPr lang="en-US" sz="1400" dirty="0">
                <a:solidFill>
                  <a:schemeClr val="tx1"/>
                </a:solidFill>
              </a:rPr>
              <a:t>Scanning each row to relax edges also totals V²</a:t>
            </a:r>
            <a:endParaRPr lang="en-US" sz="1400" dirty="0"/>
          </a:p>
        </p:txBody>
      </p:sp>
      <p:sp>
        <p:nvSpPr>
          <p:cNvPr id="15" name="Choice Sparse graph (E ≈ V)"/>
          <p:cNvSpPr/>
          <p:nvPr/>
        </p:nvSpPr>
        <p:spPr>
          <a:xfrm>
            <a:off x="365760" y="3840480"/>
            <a:ext cx="4114800" cy="777240"/>
          </a:xfrm>
          <a:prstGeom prst="roundRect">
            <a:avLst>
              <a:gd name="adj" fmla="val 11765"/>
            </a:avLst>
          </a:prstGeom>
          <a:solidFill>
            <a:schemeClr val="tx1"/>
          </a:solidFill>
          <a:ln w="12700">
            <a:solidFill>
              <a:schemeClr val="tx1"/>
            </a:solidFill>
            <a:prstDash val="solid"/>
          </a:ln>
          <a:effectLst>
            <a:outerShdw sx="100000" sy="100000" kx="0" ky="0" algn="bl" rotWithShape="0" blurRad="101600" dist="25400" dir="5400000">
              <a:srgbClr val="0B2545">
                <a:alpha val="12000"/>
              </a:srgbClr>
            </a:outerShdw>
          </a:effectLst>
        </p:spPr>
      </p:sp>
      <p:sp>
        <p:nvSpPr>
          <p:cNvPr id="16" name="Text 12"/>
          <p:cNvSpPr txBox="1"/>
          <p:nvPr/>
        </p:nvSpPr>
        <p:spPr>
          <a:xfrm>
            <a:off x="548640" y="3840480"/>
            <a:ext cx="3749040" cy="777240"/>
          </a:xfrm>
          <a:prstGeom prst="rect">
            <a:avLst/>
          </a:prstGeom>
          <a:noFill/>
          <a:ln/>
        </p:spPr>
        <p:txBody>
          <a:bodyPr wrap="square" lIns="0" tIns="0" rIns="0" bIns="0" rtlCol="0" anchor="ctr"/>
          <a:lstStyle/>
          <a:p>
            <a:pPr indent="0" marL="0">
              <a:buNone/>
            </a:pPr>
            <a:r>
              <a:rPr lang="en-US" sz="1400" b="1" dirty="0">
                <a:solidFill>
                  <a:srgbClr val="F7A35C"/>
                </a:solidFill>
              </a:rPr>
              <a:t>Sparse graph (E ≈ V)</a:t>
            </a:r>
            <a:endParaRPr lang="en-US" sz="1400" dirty="0"/>
          </a:p>
          <a:p>
            <a:pPr indent="0" marL="0">
              <a:buNone/>
            </a:pPr>
            <a:r>
              <a:rPr lang="en-US" sz="1400" dirty="0">
                <a:solidFill>
                  <a:schemeClr val="bg1"/>
                </a:solidFill>
              </a:rPr>
              <a:t>Heap is better: O(V log V)</a:t>
            </a:r>
            <a:endParaRPr lang="en-US" sz="1400" dirty="0"/>
          </a:p>
        </p:txBody>
      </p:sp>
      <p:sp>
        <p:nvSpPr>
          <p:cNvPr id="17" name="Choice Dense graph (E ≈ V²)"/>
          <p:cNvSpPr/>
          <p:nvPr/>
        </p:nvSpPr>
        <p:spPr>
          <a:xfrm>
            <a:off x="4663440" y="3840480"/>
            <a:ext cx="4114800" cy="777240"/>
          </a:xfrm>
          <a:prstGeom prst="roundRect">
            <a:avLst>
              <a:gd name="adj" fmla="val 11765"/>
            </a:avLst>
          </a:prstGeom>
          <a:solidFill>
            <a:schemeClr val="tx1"/>
          </a:solidFill>
          <a:ln w="12700">
            <a:solidFill>
              <a:schemeClr val="tx1"/>
            </a:solidFill>
            <a:prstDash val="solid"/>
          </a:ln>
          <a:effectLst>
            <a:outerShdw sx="100000" sy="100000" kx="0" ky="0" algn="bl" rotWithShape="0" blurRad="101600" dist="25400" dir="5400000">
              <a:srgbClr val="0B2545">
                <a:alpha val="12000"/>
              </a:srgbClr>
            </a:outerShdw>
          </a:effectLst>
        </p:spPr>
      </p:sp>
      <p:sp>
        <p:nvSpPr>
          <p:cNvPr id="18" name="Text 14"/>
          <p:cNvSpPr txBox="1"/>
          <p:nvPr/>
        </p:nvSpPr>
        <p:spPr>
          <a:xfrm>
            <a:off x="4846320" y="3840480"/>
            <a:ext cx="3749040" cy="777240"/>
          </a:xfrm>
          <a:prstGeom prst="rect">
            <a:avLst/>
          </a:prstGeom>
          <a:noFill/>
          <a:ln/>
        </p:spPr>
        <p:txBody>
          <a:bodyPr wrap="square" lIns="0" tIns="0" rIns="0" bIns="0" rtlCol="0" anchor="ctr"/>
          <a:lstStyle/>
          <a:p>
            <a:pPr indent="0" marL="0">
              <a:buNone/>
            </a:pPr>
            <a:r>
              <a:rPr lang="en-US" sz="1400" b="1" dirty="0">
                <a:solidFill>
                  <a:srgbClr val="F7A35C"/>
                </a:solidFill>
              </a:rPr>
              <a:t>Dense graph (E ≈ V²)</a:t>
            </a:r>
            <a:endParaRPr lang="en-US" sz="1400" dirty="0"/>
          </a:p>
          <a:p>
            <a:pPr indent="0" marL="0">
              <a:buNone/>
            </a:pPr>
            <a:r>
              <a:rPr lang="en-US" sz="1400" dirty="0">
                <a:solidFill>
                  <a:schemeClr val="bg1"/>
                </a:solidFill>
              </a:rPr>
              <a:t>Matrix is better: O(V²) vs O(V² log V)</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Advantages, Limitations &amp; Conclusion</a:t>
            </a:r>
            <a:endParaRPr lang="en-US" sz="3000" dirty="0"/>
          </a:p>
        </p:txBody>
      </p:sp>
      <p:sp>
        <p:nvSpPr>
          <p:cNvPr id="3" name="Advantages card"/>
          <p:cNvSpPr/>
          <p:nvPr/>
        </p:nvSpPr>
        <p:spPr>
          <a:xfrm>
            <a:off x="365760" y="1097280"/>
            <a:ext cx="4114800" cy="2103120"/>
          </a:xfrm>
          <a:prstGeom prst="roundRect">
            <a:avLst>
              <a:gd name="adj" fmla="val 4348"/>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4" name="FaCheckCircle circle"/>
          <p:cNvSpPr/>
          <p:nvPr/>
        </p:nvSpPr>
        <p:spPr>
          <a:xfrm>
            <a:off x="548640" y="1234440"/>
            <a:ext cx="411480" cy="411480"/>
          </a:xfrm>
          <a:prstGeom prst="ellipse">
            <a:avLst/>
          </a:prstGeom>
          <a:solidFill>
            <a:schemeClr val="accent5"/>
          </a:solidFill>
          <a:ln w="12700">
            <a:solidFill>
              <a:schemeClr val="accent5"/>
            </a:solidFill>
            <a:prstDash val="solid"/>
          </a:ln>
        </p:spPr>
      </p:sp>
      <p:pic>
        <p:nvPicPr>
          <p:cNvPr id="5" name="FaCheckCircle" descr="FaCheckCircle">    </p:cNvPr>
          <p:cNvPicPr>
            <a:picLocks noChangeAspect="1"/>
          </p:cNvPicPr>
          <p:nvPr/>
        </p:nvPicPr>
        <p:blipFill>
          <a:blip r:embed="rId1"/>
          <a:stretch>
            <a:fillRect/>
          </a:stretch>
        </p:blipFill>
        <p:spPr>
          <a:xfrm>
            <a:off x="651510" y="1337310"/>
            <a:ext cx="205740" cy="205740"/>
          </a:xfrm>
          <a:prstGeom prst="rect">
            <a:avLst/>
          </a:prstGeom>
        </p:spPr>
      </p:pic>
      <p:sp>
        <p:nvSpPr>
          <p:cNvPr id="6" name="Text 3"/>
          <p:cNvSpPr txBox="1"/>
          <p:nvPr/>
        </p:nvSpPr>
        <p:spPr>
          <a:xfrm>
            <a:off x="1097280" y="1234440"/>
            <a:ext cx="3200400" cy="411480"/>
          </a:xfrm>
          <a:prstGeom prst="rect">
            <a:avLst/>
          </a:prstGeom>
          <a:noFill/>
          <a:ln/>
        </p:spPr>
        <p:txBody>
          <a:bodyPr wrap="square" lIns="0" tIns="0" rIns="0" bIns="0" rtlCol="0" anchor="ctr"/>
          <a:lstStyle/>
          <a:p>
            <a:pPr indent="0" marL="0">
              <a:buNone/>
            </a:pPr>
            <a:r>
              <a:rPr lang="en-US" sz="1800" b="1" dirty="0">
                <a:solidFill>
                  <a:schemeClr val="tx1"/>
                </a:solidFill>
              </a:rPr>
              <a:t>Advantages</a:t>
            </a:r>
            <a:endParaRPr lang="en-US" sz="1800" dirty="0"/>
          </a:p>
        </p:txBody>
      </p:sp>
      <p:sp>
        <p:nvSpPr>
          <p:cNvPr id="7" name="Text 4"/>
          <p:cNvSpPr txBox="1"/>
          <p:nvPr/>
        </p:nvSpPr>
        <p:spPr>
          <a:xfrm>
            <a:off x="548640" y="1783080"/>
            <a:ext cx="3749040" cy="1325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Always finds the optimal path when weights are non-negative</a:t>
            </a:r>
            <a:endParaRPr lang="en-US" sz="1400" dirty="0"/>
          </a:p>
          <a:p>
            <a:pPr marL="342900" indent="-342900">
              <a:spcAft>
                <a:spcPts val="500"/>
              </a:spcAft>
              <a:buSzPct val="100000"/>
              <a:buChar char="•"/>
            </a:pPr>
            <a:r>
              <a:rPr lang="en-US" sz="1400" dirty="0">
                <a:solidFill>
                  <a:schemeClr val="tx1"/>
                </a:solidFill>
              </a:rPr>
              <a:t>Simple greedy idea, easy to implement</a:t>
            </a:r>
            <a:endParaRPr lang="en-US" sz="1400" dirty="0"/>
          </a:p>
          <a:p>
            <a:pPr marL="342900" indent="-342900">
              <a:spcAft>
                <a:spcPts val="500"/>
              </a:spcAft>
              <a:buSzPct val="100000"/>
              <a:buChar char="•"/>
            </a:pPr>
            <a:r>
              <a:rPr lang="en-US" sz="1400" dirty="0">
                <a:solidFill>
                  <a:schemeClr val="tx1"/>
                </a:solidFill>
              </a:rPr>
              <a:t>Fast on sparse graphs with a priority queue</a:t>
            </a:r>
            <a:endParaRPr lang="en-US" sz="1400" dirty="0"/>
          </a:p>
        </p:txBody>
      </p:sp>
      <p:sp>
        <p:nvSpPr>
          <p:cNvPr id="8" name="Limitations card"/>
          <p:cNvSpPr/>
          <p:nvPr/>
        </p:nvSpPr>
        <p:spPr>
          <a:xfrm>
            <a:off x="4663440" y="1097280"/>
            <a:ext cx="4114800" cy="2103120"/>
          </a:xfrm>
          <a:prstGeom prst="roundRect">
            <a:avLst>
              <a:gd name="adj" fmla="val 4348"/>
            </a:avLst>
          </a:prstGeom>
          <a:solidFill>
            <a:schemeClr val="bg1"/>
          </a:solidFill>
          <a:ln w="12700">
            <a:solidFill>
              <a:schemeClr val="bg1"/>
            </a:solidFill>
            <a:prstDash val="solid"/>
          </a:ln>
          <a:effectLst>
            <a:outerShdw sx="100000" sy="100000" kx="0" ky="0" algn="bl" rotWithShape="0" blurRad="101600" dist="25400" dir="5400000">
              <a:srgbClr val="0B2545">
                <a:alpha val="12000"/>
              </a:srgbClr>
            </a:outerShdw>
          </a:effectLst>
        </p:spPr>
      </p:sp>
      <p:sp>
        <p:nvSpPr>
          <p:cNvPr id="9" name="FaExclamationTriangle circle"/>
          <p:cNvSpPr/>
          <p:nvPr/>
        </p:nvSpPr>
        <p:spPr>
          <a:xfrm>
            <a:off x="4846320" y="1234440"/>
            <a:ext cx="411480" cy="411480"/>
          </a:xfrm>
          <a:prstGeom prst="ellipse">
            <a:avLst/>
          </a:prstGeom>
          <a:solidFill>
            <a:schemeClr val="accent6"/>
          </a:solidFill>
          <a:ln w="12700">
            <a:solidFill>
              <a:schemeClr val="accent6"/>
            </a:solidFill>
            <a:prstDash val="solid"/>
          </a:ln>
        </p:spPr>
      </p:sp>
      <p:pic>
        <p:nvPicPr>
          <p:cNvPr id="10" name="FaExclamationTriangle" descr="FaExclamationTriangle">    </p:cNvPr>
          <p:cNvPicPr>
            <a:picLocks noChangeAspect="1"/>
          </p:cNvPicPr>
          <p:nvPr/>
        </p:nvPicPr>
        <p:blipFill>
          <a:blip r:embed="rId2"/>
          <a:stretch>
            <a:fillRect/>
          </a:stretch>
        </p:blipFill>
        <p:spPr>
          <a:xfrm>
            <a:off x="4949190" y="1337310"/>
            <a:ext cx="205740" cy="205740"/>
          </a:xfrm>
          <a:prstGeom prst="rect">
            <a:avLst/>
          </a:prstGeom>
        </p:spPr>
      </p:pic>
      <p:sp>
        <p:nvSpPr>
          <p:cNvPr id="11" name="Text 7"/>
          <p:cNvSpPr txBox="1"/>
          <p:nvPr/>
        </p:nvSpPr>
        <p:spPr>
          <a:xfrm>
            <a:off x="5394960" y="1234440"/>
            <a:ext cx="3200400" cy="411480"/>
          </a:xfrm>
          <a:prstGeom prst="rect">
            <a:avLst/>
          </a:prstGeom>
          <a:noFill/>
          <a:ln/>
        </p:spPr>
        <p:txBody>
          <a:bodyPr wrap="square" lIns="0" tIns="0" rIns="0" bIns="0" rtlCol="0" anchor="ctr"/>
          <a:lstStyle/>
          <a:p>
            <a:pPr indent="0" marL="0">
              <a:buNone/>
            </a:pPr>
            <a:r>
              <a:rPr lang="en-US" sz="1800" b="1" dirty="0">
                <a:solidFill>
                  <a:schemeClr val="tx1"/>
                </a:solidFill>
              </a:rPr>
              <a:t>Limitations</a:t>
            </a:r>
            <a:endParaRPr lang="en-US" sz="1800" dirty="0"/>
          </a:p>
        </p:txBody>
      </p:sp>
      <p:sp>
        <p:nvSpPr>
          <p:cNvPr id="12" name="Text 8"/>
          <p:cNvSpPr txBox="1"/>
          <p:nvPr/>
        </p:nvSpPr>
        <p:spPr>
          <a:xfrm>
            <a:off x="4846320" y="1783080"/>
            <a:ext cx="3749040" cy="1325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Fails with negative weights (use Bellman-Ford)</a:t>
            </a:r>
            <a:endParaRPr lang="en-US" sz="1400" dirty="0"/>
          </a:p>
          <a:p>
            <a:pPr marL="342900" indent="-342900">
              <a:spcAft>
                <a:spcPts val="500"/>
              </a:spcAft>
              <a:buSzPct val="100000"/>
              <a:buChar char="•"/>
            </a:pPr>
            <a:r>
              <a:rPr lang="en-US" sz="1400" dirty="0">
                <a:solidFill>
                  <a:schemeClr val="tx1"/>
                </a:solidFill>
              </a:rPr>
              <a:t>Single source only (all pairs: Floyd-Warshall)</a:t>
            </a:r>
            <a:endParaRPr lang="en-US" sz="1400" dirty="0"/>
          </a:p>
          <a:p>
            <a:pPr marL="342900" indent="-342900">
              <a:spcAft>
                <a:spcPts val="500"/>
              </a:spcAft>
              <a:buSzPct val="100000"/>
              <a:buChar char="•"/>
            </a:pPr>
            <a:r>
              <a:rPr lang="en-US" sz="1400" dirty="0">
                <a:solidFill>
                  <a:schemeClr val="tx1"/>
                </a:solidFill>
              </a:rPr>
              <a:t>No sense of direction; A* is faster for one target</a:t>
            </a:r>
            <a:endParaRPr lang="en-US" sz="1400" dirty="0"/>
          </a:p>
        </p:txBody>
      </p:sp>
      <p:sp>
        <p:nvSpPr>
          <p:cNvPr id="13" name="Conclusion card"/>
          <p:cNvSpPr/>
          <p:nvPr/>
        </p:nvSpPr>
        <p:spPr>
          <a:xfrm>
            <a:off x="365760" y="3383280"/>
            <a:ext cx="8412480" cy="1234440"/>
          </a:xfrm>
          <a:prstGeom prst="roundRect">
            <a:avLst>
              <a:gd name="adj" fmla="val 7407"/>
            </a:avLst>
          </a:prstGeom>
          <a:solidFill>
            <a:schemeClr val="tx1"/>
          </a:solidFill>
          <a:ln w="12700">
            <a:solidFill>
              <a:schemeClr val="tx1"/>
            </a:solidFill>
            <a:prstDash val="solid"/>
          </a:ln>
          <a:effectLst>
            <a:outerShdw sx="100000" sy="100000" kx="0" ky="0" algn="bl" rotWithShape="0" blurRad="101600" dist="25400" dir="5400000">
              <a:srgbClr val="0B2545">
                <a:alpha val="12000"/>
              </a:srgbClr>
            </a:outerShdw>
          </a:effectLst>
        </p:spPr>
      </p:sp>
      <p:sp>
        <p:nvSpPr>
          <p:cNvPr id="14" name="Text 10"/>
          <p:cNvSpPr txBox="1"/>
          <p:nvPr/>
        </p:nvSpPr>
        <p:spPr>
          <a:xfrm>
            <a:off x="594360" y="3429000"/>
            <a:ext cx="7955280" cy="1143000"/>
          </a:xfrm>
          <a:prstGeom prst="rect">
            <a:avLst/>
          </a:prstGeom>
          <a:noFill/>
          <a:ln/>
        </p:spPr>
        <p:txBody>
          <a:bodyPr wrap="square" lIns="0" tIns="0" rIns="0" bIns="0" rtlCol="0" anchor="ctr"/>
          <a:lstStyle/>
          <a:p>
            <a:pPr indent="0" marL="0">
              <a:spcAft>
                <a:spcPts val="400"/>
              </a:spcAft>
              <a:buNone/>
            </a:pPr>
            <a:r>
              <a:rPr lang="en-US" sz="1800" b="1" dirty="0">
                <a:solidFill>
                  <a:srgbClr val="F7A35C"/>
                </a:solidFill>
              </a:rPr>
              <a:t>Conclusion</a:t>
            </a:r>
            <a:endParaRPr lang="en-US" sz="1800" dirty="0"/>
          </a:p>
          <a:p>
            <a:pPr indent="0" marL="0">
              <a:spcAft>
                <a:spcPts val="400"/>
              </a:spcAft>
              <a:buNone/>
            </a:pPr>
            <a:r>
              <a:rPr lang="en-US" sz="1400" dirty="0">
                <a:solidFill>
                  <a:schemeClr val="bg1"/>
                </a:solidFill>
              </a:rPr>
              <a:t>Dijkstra’s algorithm greedily picks the closest unvisited vertex and relaxes its edges. With a priority queue it runs in O((V + E) log V), and it is the foundation of modern route-finding and network routing.</a:t>
            </a:r>
            <a:endParaRPr lang="en-US" sz="18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594360"/>
            <a:ext cx="36576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QUESTIONS?</a:t>
            </a:r>
            <a:endParaRPr lang="en-US" sz="1200" dirty="0"/>
          </a:p>
        </p:txBody>
      </p:sp>
      <p:sp>
        <p:nvSpPr>
          <p:cNvPr id="3" name="Text 0"/>
          <p:cNvSpPr/>
          <p:nvPr>
            <p:ph idx="100" type="title" hasCustomPrompt="1"/>
          </p:nvPr>
        </p:nvSpPr>
        <p:spPr>
          <a:xfrm>
            <a:off x="548640" y="1005840"/>
            <a:ext cx="4480560" cy="1783080"/>
          </a:xfrm>
          <a:prstGeom prst="rect">
            <a:avLst/>
          </a:prstGeom>
          <a:noFill/>
          <a:ln/>
        </p:spPr>
        <p:txBody>
          <a:bodyPr wrap="square" lIns="0" tIns="0" rIns="0" bIns="0" rtlCol="0" anchor="t"/>
          <a:lstStyle/>
          <a:p>
            <a:pPr algn="l" indent="0" marL="0">
              <a:buNone/>
            </a:pPr>
            <a:r>
              <a:rPr lang="en-US" sz="3800" b="1" dirty="0">
                <a:solidFill>
                  <a:schemeClr val="bg1"/>
                </a:solidFill>
              </a:rPr>
              <a:t>Thank You</a:t>
            </a:r>
            <a:endParaRPr lang="en-US" sz="3800" dirty="0"/>
          </a:p>
        </p:txBody>
      </p:sp>
      <p:sp>
        <p:nvSpPr>
          <p:cNvPr id="4" name="Text 0"/>
          <p:cNvSpPr/>
          <p:nvPr>
            <p:ph idx="101" type="body" hasCustomPrompt="1"/>
          </p:nvPr>
        </p:nvSpPr>
        <p:spPr>
          <a:xfrm>
            <a:off x="548640" y="2926080"/>
            <a:ext cx="4480560" cy="411480"/>
          </a:xfrm>
          <a:prstGeom prst="rect">
            <a:avLst/>
          </a:prstGeom>
          <a:noFill/>
          <a:ln/>
        </p:spPr>
        <p:txBody>
          <a:bodyPr wrap="square" lIns="0" tIns="0" rIns="0" bIns="0" rtlCol="0" anchor="t"/>
          <a:lstStyle/>
          <a:p>
            <a:pPr indent="0" marL="0">
              <a:buNone/>
            </a:pPr>
            <a:r>
              <a:rPr lang="en-US" sz="1800" dirty="0">
                <a:solidFill>
                  <a:schemeClr val="bg2"/>
                </a:solidFill>
              </a:rPr>
              <a:t>Dijkstra’s Shortest Path Algorithm</a:t>
            </a:r>
            <a:endParaRPr lang="en-US" sz="1800" dirty="0"/>
          </a:p>
        </p:txBody>
      </p:sp>
      <p:sp>
        <p:nvSpPr>
          <p:cNvPr id="5" name="Text 3"/>
          <p:cNvSpPr txBox="1"/>
          <p:nvPr/>
        </p:nvSpPr>
        <p:spPr>
          <a:xfrm>
            <a:off x="548640" y="3611880"/>
            <a:ext cx="2743200" cy="228600"/>
          </a:xfrm>
          <a:prstGeom prst="rect">
            <a:avLst/>
          </a:prstGeom>
          <a:noFill/>
          <a:ln/>
        </p:spPr>
        <p:txBody>
          <a:bodyPr wrap="square" lIns="0" tIns="0" rIns="0" bIns="0" rtlCol="0" anchor="ctr"/>
          <a:lstStyle/>
          <a:p>
            <a:pPr indent="0" marL="0">
              <a:buNone/>
            </a:pPr>
            <a:r>
              <a:rPr lang="en-US" sz="1200" dirty="0">
                <a:solidFill>
                  <a:schemeClr val="bg2"/>
                </a:solidFill>
              </a:rPr>
              <a:t>Presented by</a:t>
            </a:r>
            <a:endParaRPr lang="en-US" sz="1200" dirty="0"/>
          </a:p>
        </p:txBody>
      </p:sp>
      <p:sp>
        <p:nvSpPr>
          <p:cNvPr id="6" name="Text 4"/>
          <p:cNvSpPr txBox="1"/>
          <p:nvPr/>
        </p:nvSpPr>
        <p:spPr>
          <a:xfrm>
            <a:off x="548640" y="3840480"/>
            <a:ext cx="3657600" cy="411480"/>
          </a:xfrm>
          <a:prstGeom prst="rect">
            <a:avLst/>
          </a:prstGeom>
          <a:noFill/>
          <a:ln/>
        </p:spPr>
        <p:txBody>
          <a:bodyPr wrap="square" lIns="0" tIns="0" rIns="0" bIns="0" rtlCol="0" anchor="ctr"/>
          <a:lstStyle/>
          <a:p>
            <a:pPr indent="0" marL="0">
              <a:buNone/>
            </a:pPr>
            <a:r>
              <a:rPr lang="en-US" sz="2400" b="1" dirty="0">
                <a:solidFill>
                  <a:schemeClr val="bg1"/>
                </a:solidFill>
              </a:rPr>
              <a:t>Jatin Kotha</a:t>
            </a:r>
            <a:endParaRPr lang="en-US" sz="2400" dirty="0"/>
          </a:p>
        </p:txBody>
      </p:sp>
      <p:sp>
        <p:nvSpPr>
          <p:cNvPr id="7" name="Shape 5"/>
          <p:cNvSpPr/>
          <p:nvPr/>
        </p:nvSpPr>
        <p:spPr>
          <a:xfrm flipV="1">
            <a:off x="5212080" y="1737360"/>
            <a:ext cx="1119226" cy="790042"/>
          </a:xfrm>
          <a:prstGeom prst="line">
            <a:avLst/>
          </a:prstGeom>
          <a:noFill/>
          <a:ln w="25400">
            <a:solidFill>
              <a:schemeClr val="accent4"/>
            </a:solidFill>
            <a:prstDash val="solid"/>
          </a:ln>
        </p:spPr>
      </p:sp>
      <p:sp>
        <p:nvSpPr>
          <p:cNvPr id="8" name="Shape 6"/>
          <p:cNvSpPr/>
          <p:nvPr/>
        </p:nvSpPr>
        <p:spPr>
          <a:xfrm>
            <a:off x="5212080" y="2527402"/>
            <a:ext cx="1119226" cy="790042"/>
          </a:xfrm>
          <a:prstGeom prst="line">
            <a:avLst/>
          </a:prstGeom>
          <a:noFill/>
          <a:ln w="63500">
            <a:solidFill>
              <a:schemeClr val="accent2"/>
            </a:solidFill>
            <a:prstDash val="solid"/>
          </a:ln>
        </p:spPr>
      </p:sp>
      <p:sp>
        <p:nvSpPr>
          <p:cNvPr id="9" name="Shape 7"/>
          <p:cNvSpPr/>
          <p:nvPr/>
        </p:nvSpPr>
        <p:spPr>
          <a:xfrm>
            <a:off x="6331306" y="1737360"/>
            <a:ext cx="0" cy="1580083"/>
          </a:xfrm>
          <a:prstGeom prst="line">
            <a:avLst/>
          </a:prstGeom>
          <a:noFill/>
          <a:ln w="63500">
            <a:solidFill>
              <a:schemeClr val="accent2"/>
            </a:solidFill>
            <a:prstDash val="solid"/>
          </a:ln>
        </p:spPr>
      </p:sp>
      <p:sp>
        <p:nvSpPr>
          <p:cNvPr id="10" name="Shape 8"/>
          <p:cNvSpPr/>
          <p:nvPr/>
        </p:nvSpPr>
        <p:spPr>
          <a:xfrm>
            <a:off x="6331306" y="1737360"/>
            <a:ext cx="1119226" cy="790042"/>
          </a:xfrm>
          <a:prstGeom prst="line">
            <a:avLst/>
          </a:prstGeom>
          <a:noFill/>
          <a:ln w="63500">
            <a:solidFill>
              <a:schemeClr val="accent2"/>
            </a:solidFill>
            <a:prstDash val="solid"/>
          </a:ln>
        </p:spPr>
      </p:sp>
      <p:sp>
        <p:nvSpPr>
          <p:cNvPr id="11" name="Shape 9"/>
          <p:cNvSpPr/>
          <p:nvPr/>
        </p:nvSpPr>
        <p:spPr>
          <a:xfrm flipV="1">
            <a:off x="6331306" y="2527402"/>
            <a:ext cx="1119226" cy="790042"/>
          </a:xfrm>
          <a:prstGeom prst="line">
            <a:avLst/>
          </a:prstGeom>
          <a:noFill/>
          <a:ln w="25400">
            <a:solidFill>
              <a:schemeClr val="accent4"/>
            </a:solidFill>
            <a:prstDash val="solid"/>
          </a:ln>
        </p:spPr>
      </p:sp>
      <p:sp>
        <p:nvSpPr>
          <p:cNvPr id="12" name="Shape 10"/>
          <p:cNvSpPr/>
          <p:nvPr/>
        </p:nvSpPr>
        <p:spPr>
          <a:xfrm flipV="1">
            <a:off x="6331306" y="2527402"/>
            <a:ext cx="2172614" cy="790042"/>
          </a:xfrm>
          <a:prstGeom prst="line">
            <a:avLst/>
          </a:prstGeom>
          <a:noFill/>
          <a:ln w="25400">
            <a:solidFill>
              <a:schemeClr val="accent4"/>
            </a:solidFill>
            <a:prstDash val="solid"/>
          </a:ln>
        </p:spPr>
      </p:sp>
      <p:sp>
        <p:nvSpPr>
          <p:cNvPr id="13" name="Shape 11"/>
          <p:cNvSpPr/>
          <p:nvPr/>
        </p:nvSpPr>
        <p:spPr>
          <a:xfrm>
            <a:off x="7450531" y="2527402"/>
            <a:ext cx="1053389" cy="0"/>
          </a:xfrm>
          <a:prstGeom prst="line">
            <a:avLst/>
          </a:prstGeom>
          <a:noFill/>
          <a:ln w="63500">
            <a:solidFill>
              <a:schemeClr val="accent2"/>
            </a:solidFill>
            <a:prstDash val="solid"/>
          </a:ln>
        </p:spPr>
      </p:sp>
      <p:sp>
        <p:nvSpPr>
          <p:cNvPr id="14" name="Text 12"/>
          <p:cNvSpPr txBox="1"/>
          <p:nvPr/>
        </p:nvSpPr>
        <p:spPr>
          <a:xfrm>
            <a:off x="5625389" y="2022653"/>
            <a:ext cx="292608" cy="219456"/>
          </a:xfrm>
          <a:prstGeom prst="roundRect">
            <a:avLst>
              <a:gd name="adj" fmla="val 33333"/>
            </a:avLst>
          </a:prstGeom>
          <a:solidFill>
            <a:schemeClr val="tx2"/>
          </a:solidFill>
          <a:ln w="12700">
            <a:solidFill>
              <a:schemeClr val="accent4"/>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5" name="Text 13"/>
          <p:cNvSpPr txBox="1"/>
          <p:nvPr/>
        </p:nvSpPr>
        <p:spPr>
          <a:xfrm>
            <a:off x="5625389" y="2812694"/>
            <a:ext cx="292608" cy="219456"/>
          </a:xfrm>
          <a:prstGeom prst="roundRect">
            <a:avLst>
              <a:gd name="adj" fmla="val 33333"/>
            </a:avLst>
          </a:prstGeom>
          <a:solidFill>
            <a:schemeClr val="tx2"/>
          </a:solidFill>
          <a:ln w="12700">
            <a:solidFill>
              <a:schemeClr val="accent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Text 14"/>
          <p:cNvSpPr txBox="1"/>
          <p:nvPr/>
        </p:nvSpPr>
        <p:spPr>
          <a:xfrm>
            <a:off x="6185002" y="2417674"/>
            <a:ext cx="292608" cy="219456"/>
          </a:xfrm>
          <a:prstGeom prst="roundRect">
            <a:avLst>
              <a:gd name="adj" fmla="val 33333"/>
            </a:avLst>
          </a:prstGeom>
          <a:solidFill>
            <a:schemeClr val="tx2"/>
          </a:solidFill>
          <a:ln w="12700">
            <a:solidFill>
              <a:schemeClr val="accent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7" name="Text 15"/>
          <p:cNvSpPr txBox="1"/>
          <p:nvPr/>
        </p:nvSpPr>
        <p:spPr>
          <a:xfrm>
            <a:off x="6744614" y="2022653"/>
            <a:ext cx="292608" cy="219456"/>
          </a:xfrm>
          <a:prstGeom prst="roundRect">
            <a:avLst>
              <a:gd name="adj" fmla="val 33333"/>
            </a:avLst>
          </a:prstGeom>
          <a:solidFill>
            <a:schemeClr val="tx2"/>
          </a:solidFill>
          <a:ln w="12700">
            <a:solidFill>
              <a:schemeClr val="accent2"/>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18" name="Text 16"/>
          <p:cNvSpPr txBox="1"/>
          <p:nvPr/>
        </p:nvSpPr>
        <p:spPr>
          <a:xfrm>
            <a:off x="6744614" y="2812694"/>
            <a:ext cx="292608" cy="219456"/>
          </a:xfrm>
          <a:prstGeom prst="roundRect">
            <a:avLst>
              <a:gd name="adj" fmla="val 33333"/>
            </a:avLst>
          </a:prstGeom>
          <a:solidFill>
            <a:schemeClr val="tx2"/>
          </a:solidFill>
          <a:ln w="12700">
            <a:solidFill>
              <a:schemeClr val="accent4"/>
            </a:solid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19" name="Text 17"/>
          <p:cNvSpPr txBox="1"/>
          <p:nvPr/>
        </p:nvSpPr>
        <p:spPr>
          <a:xfrm>
            <a:off x="7271309" y="2812694"/>
            <a:ext cx="292608" cy="219456"/>
          </a:xfrm>
          <a:prstGeom prst="roundRect">
            <a:avLst>
              <a:gd name="adj" fmla="val 33333"/>
            </a:avLst>
          </a:prstGeom>
          <a:solidFill>
            <a:schemeClr val="tx2"/>
          </a:solidFill>
          <a:ln w="12700">
            <a:solidFill>
              <a:schemeClr val="accent4"/>
            </a:solidFill>
          </a:ln>
        </p:spPr>
        <p:txBody>
          <a:bodyPr wrap="square" lIns="0" tIns="0" rIns="0" bIns="0" rtlCol="0" anchor="ctr"/>
          <a:lstStyle/>
          <a:p>
            <a:pPr algn="ctr" indent="0" marL="0">
              <a:buNone/>
            </a:pPr>
            <a:r>
              <a:rPr lang="en-US" sz="1100" b="1" dirty="0">
                <a:solidFill>
                  <a:schemeClr val="bg1"/>
                </a:solidFill>
              </a:rPr>
              <a:t>10</a:t>
            </a:r>
            <a:endParaRPr lang="en-US" sz="1100" dirty="0"/>
          </a:p>
        </p:txBody>
      </p:sp>
      <p:sp>
        <p:nvSpPr>
          <p:cNvPr id="20" name="Text 18"/>
          <p:cNvSpPr txBox="1"/>
          <p:nvPr/>
        </p:nvSpPr>
        <p:spPr>
          <a:xfrm>
            <a:off x="7830922" y="2417674"/>
            <a:ext cx="292608" cy="219456"/>
          </a:xfrm>
          <a:prstGeom prst="roundRect">
            <a:avLst>
              <a:gd name="adj" fmla="val 33333"/>
            </a:avLst>
          </a:prstGeom>
          <a:solidFill>
            <a:schemeClr val="tx2"/>
          </a:solidFill>
          <a:ln w="12700">
            <a:solidFill>
              <a:schemeClr val="accent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1" name="Node A"/>
          <p:cNvSpPr txBox="1"/>
          <p:nvPr/>
        </p:nvSpPr>
        <p:spPr>
          <a:xfrm>
            <a:off x="4974336" y="2289658"/>
            <a:ext cx="475488" cy="475488"/>
          </a:xfrm>
          <a:prstGeom prst="ellipse">
            <a:avLst/>
          </a:prstGeom>
          <a:solidFill>
            <a:schemeClr val="bg1"/>
          </a:solidFill>
          <a:ln w="25400">
            <a:solidFill>
              <a:schemeClr val="tx1"/>
            </a:solid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22" name="Node B"/>
          <p:cNvSpPr txBox="1"/>
          <p:nvPr/>
        </p:nvSpPr>
        <p:spPr>
          <a:xfrm>
            <a:off x="6093562" y="1499616"/>
            <a:ext cx="475488" cy="475488"/>
          </a:xfrm>
          <a:prstGeom prst="ellipse">
            <a:avLst/>
          </a:prstGeom>
          <a:solidFill>
            <a:schemeClr val="bg1"/>
          </a:solidFill>
          <a:ln w="25400">
            <a:solidFill>
              <a:schemeClr val="tx1"/>
            </a:solid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23" name="Node C"/>
          <p:cNvSpPr txBox="1"/>
          <p:nvPr/>
        </p:nvSpPr>
        <p:spPr>
          <a:xfrm>
            <a:off x="6093562" y="3079699"/>
            <a:ext cx="475488" cy="475488"/>
          </a:xfrm>
          <a:prstGeom prst="ellipse">
            <a:avLst/>
          </a:prstGeom>
          <a:solidFill>
            <a:schemeClr val="bg1"/>
          </a:solidFill>
          <a:ln w="25400">
            <a:solidFill>
              <a:schemeClr val="tx1"/>
            </a:solid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24" name="Node D"/>
          <p:cNvSpPr txBox="1"/>
          <p:nvPr/>
        </p:nvSpPr>
        <p:spPr>
          <a:xfrm>
            <a:off x="7212787" y="2289658"/>
            <a:ext cx="475488" cy="475488"/>
          </a:xfrm>
          <a:prstGeom prst="ellipse">
            <a:avLst/>
          </a:prstGeom>
          <a:solidFill>
            <a:schemeClr val="bg1"/>
          </a:solidFill>
          <a:ln w="25400">
            <a:solidFill>
              <a:schemeClr val="tx1"/>
            </a:solid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5" name="Node E"/>
          <p:cNvSpPr txBox="1"/>
          <p:nvPr/>
        </p:nvSpPr>
        <p:spPr>
          <a:xfrm>
            <a:off x="8266176" y="2289658"/>
            <a:ext cx="475488" cy="475488"/>
          </a:xfrm>
          <a:prstGeom prst="ellipse">
            <a:avLst/>
          </a:prstGeom>
          <a:solidFill>
            <a:schemeClr val="bg1"/>
          </a:solidFill>
          <a:ln w="25400">
            <a:solidFill>
              <a:schemeClr val="tx1"/>
            </a:solidFill>
          </a:ln>
        </p:spPr>
        <p:txBody>
          <a:bodyPr wrap="square" lIns="0" tIns="0" rIns="0" bIns="0" rtlCol="0" anchor="ctr"/>
          <a:lstStyle/>
          <a:p>
            <a:pPr algn="ctr" indent="0" marL="0">
              <a:buNone/>
            </a:pPr>
            <a:r>
              <a:rPr lang="en-US" sz="1500" b="1" dirty="0">
                <a:solidFill>
                  <a:schemeClr val="tx1"/>
                </a:solidFill>
              </a:rPr>
              <a:t>E</a:t>
            </a:r>
            <a:endParaRPr lang="en-US" sz="1500" dirty="0"/>
          </a:p>
        </p:txBody>
      </p:sp>
      <p:sp>
        <p:nvSpPr>
          <p:cNvPr id="26" name="Text 24"/>
          <p:cNvSpPr txBox="1"/>
          <p:nvPr/>
        </p:nvSpPr>
        <p:spPr>
          <a:xfrm>
            <a:off x="4937760" y="3840480"/>
            <a:ext cx="3840480" cy="274320"/>
          </a:xfrm>
          <a:prstGeom prst="rect">
            <a:avLst/>
          </a:prstGeom>
          <a:noFill/>
          <a:ln/>
        </p:spPr>
        <p:txBody>
          <a:bodyPr wrap="square" lIns="0" tIns="0" rIns="0" bIns="0" rtlCol="0" anchor="ctr"/>
          <a:lstStyle/>
          <a:p>
            <a:pPr algn="ctr" indent="0" marL="0">
              <a:buNone/>
            </a:pPr>
            <a:r>
              <a:rPr lang="en-US" sz="1200" i="1" dirty="0">
                <a:solidFill>
                  <a:schemeClr val="bg2"/>
                </a:solidFill>
              </a:rPr>
              <a:t>A → C → B → D → E  =  10</a:t>
            </a:r>
            <a:endParaRPr lang="en-US" sz="1200" dirty="0"/>
          </a:p>
        </p:txBody>
      </p:sp>
    </p:spTree>
  </p:cSld>
  <p:clrMapOvr>
    <a:masterClrMapping/>
  </p:clrMapOvr>
</p:sld>
</file>

<file path=ppt/theme/theme1.xml><?xml version="1.0" encoding="utf-8"?>
<a:theme xmlns:a="http://schemas.openxmlformats.org/drawingml/2006/main" name="Dijkstra Academic">
  <a:themeElements>
    <a:clrScheme name="Dijkstra Academic">
      <a:dk1>
        <a:srgbClr val="0B2545"/>
      </a:dk1>
      <a:lt1>
        <a:srgbClr val="FFFFFF"/>
      </a:lt1>
      <a:dk2>
        <a:srgbClr val="1B3A5C"/>
      </a:dk2>
      <a:lt2>
        <a:srgbClr val="EEF3F9"/>
      </a:lt2>
      <a:accent1>
        <a:srgbClr val="0E7C86"/>
      </a:accent1>
      <a:accent2>
        <a:srgbClr val="E4650F"/>
      </a:accent2>
      <a:accent3>
        <a:srgbClr val="2E6FBF"/>
      </a:accent3>
      <a:accent4>
        <a:srgbClr val="5F7388"/>
      </a:accent4>
      <a:accent5>
        <a:srgbClr val="2E9E62"/>
      </a:accent5>
      <a:accent6>
        <a:srgbClr val="C93B3B"/>
      </a:accent6>
      <a:hlink>
        <a:srgbClr val="2E6FBF"/>
      </a:hlink>
      <a:folHlink>
        <a:srgbClr val="5F7388"/>
      </a:folHlink>
    </a:clrScheme>
    <a:fontScheme name="Dijkstra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Dijkstra's Shortest Path Algorithm</dc:title>
  <dc:subject>PptxGenJS Presentation</dc:subject>
  <dc:creator>Jatin Kotha</dc:creator>
  <cp:lastModifiedBy>Jatin Kotha</cp:lastModifiedBy>
  <cp:revision>1</cp:revision>
  <dcterms:created xsi:type="dcterms:W3CDTF">2026-10-14T19:51:41Z</dcterms:created>
  <dcterms:modified xsi:type="dcterms:W3CDTF">2026-10-14T19:51:41Z</dcterms:modified>
</cp:coreProperties>
</file>